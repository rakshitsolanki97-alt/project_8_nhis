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50" r:id="rId1"/>
  </p:sldMasterIdLst>
  <p:sldIdLst>
    <p:sldId id="256" r:id="rId2"/>
    <p:sldId id="257" r:id="rId3"/>
    <p:sldId id="290" r:id="rId4"/>
    <p:sldId id="259" r:id="rId5"/>
    <p:sldId id="263" r:id="rId6"/>
    <p:sldId id="264" r:id="rId7"/>
    <p:sldId id="265" r:id="rId8"/>
    <p:sldId id="266" r:id="rId9"/>
    <p:sldId id="268" r:id="rId10"/>
    <p:sldId id="291" r:id="rId11"/>
    <p:sldId id="296" r:id="rId12"/>
    <p:sldId id="288" r:id="rId13"/>
    <p:sldId id="293" r:id="rId14"/>
    <p:sldId id="295" r:id="rId15"/>
    <p:sldId id="272" r:id="rId16"/>
    <p:sldId id="274" r:id="rId17"/>
    <p:sldId id="273" r:id="rId1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#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0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ltNode1NoLn">
    <dgm:fillClrLst meth="repeat">
      <a:schemeClr val="accent1">
        <a:tint val="75000"/>
      </a:schemeClr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2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  <dgm:styleLbl name="revTxLt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/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524A56CB-4F22-4C3D-ADF6-CBB3E3E3B454}" type="doc">
      <dgm:prSet loTypeId="urn:microsoft.com/office/officeart/2005/8/layout/process1" loCatId="process" qsTypeId="urn:microsoft.com/office/officeart/2005/8/quickstyle/simple1#2" qsCatId="simple" csTypeId="urn:microsoft.com/office/officeart/2005/8/colors/accent1_2#2" csCatId="accent1" phldr="1"/>
      <dgm:spPr/>
      <dgm:t>
        <a:bodyPr/>
        <a:lstStyle/>
        <a:p>
          <a:endParaRPr lang="en-IN"/>
        </a:p>
      </dgm:t>
    </dgm:pt>
    <dgm:pt modelId="{7B87725B-5DB0-495F-B62E-1995B0A87D89}" type="pres">
      <dgm:prSet presAssocID="{524A56CB-4F22-4C3D-ADF6-CBB3E3E3B454}" presName="Name0" presStyleCnt="0">
        <dgm:presLayoutVars>
          <dgm:dir/>
          <dgm:resizeHandles val="exact"/>
        </dgm:presLayoutVars>
      </dgm:prSet>
      <dgm:spPr/>
    </dgm:pt>
  </dgm:ptLst>
  <dgm:cxnLst>
    <dgm:cxn modelId="{FB9E9C2B-D9A7-43CF-8302-41C1F16CE0BD}" type="presOf" srcId="{524A56CB-4F22-4C3D-ADF6-CBB3E3E3B454}" destId="{7B87725B-5DB0-495F-B62E-1995B0A87D89}" srcOrd="0" destOrd="0" presId="urn:microsoft.com/office/officeart/2005/8/layout/process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process1">
  <dgm:title val=""/>
  <dgm:desc val=""/>
  <dgm:catLst>
    <dgm:cat type="process" pri="1000"/>
    <dgm:cat type="convert" pri="15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h" for="ch" ptType="node" op="equ"/>
      <dgm:constr type="primFontSz" for="ch" ptType="node" op="equ" val="65"/>
      <dgm:constr type="w" for="ch" ptType="sibTrans" refType="w" refFor="ch" refPtType="node" op="equ" fact="0.4"/>
      <dgm:constr type="h" for="ch" ptType="sibTrans" op="equ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oundRect" r:blip="">
          <dgm:adjLst>
            <dgm:adj idx="1" val="0.1"/>
          </dgm:adjLst>
        </dgm:shape>
        <dgm:presOf axis="desOrSelf" ptType="node"/>
        <dgm:constrLst>
          <dgm:constr type="h" refType="w" fact="0.6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18" fact="NaN" max="NaN"/>
          <dgm:rule type="h" val="NaN" fact="1.5" max="NaN"/>
          <dgm:rule type="primFontSz" val="5" fact="NaN" max="NaN"/>
          <dgm:rule type="h" val="INF" fact="NaN" max="NaN"/>
        </dgm:ruleLst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h" refType="w" fact="0.62"/>
            <dgm:constr type="connDist"/>
            <dgm:constr type="begPad" refType="connDist" fact="0.25"/>
            <dgm:constr type="endPad" refType="connDist" fact="0.22"/>
          </dgm:constrLst>
          <dgm:ruleLst/>
          <dgm:layoutNode name="connectorText">
            <dgm:alg type="tx">
              <dgm:param type="autoTxRot" val="grav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#2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0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tNode1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revTxLt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>
        <a:schemeClr val="lt1"/>
      </a:fontRef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1447800"/>
            <a:ext cx="8825658" cy="3329581"/>
          </a:xfrm>
        </p:spPr>
        <p:txBody>
          <a:bodyPr anchor="b"/>
          <a:lstStyle>
            <a:lvl1pPr>
              <a:defRPr sz="7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accent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362F64-B922-4B13-9721-EA4E666902C9}" type="datetimeFigureOut">
              <a:rPr lang="en-IN" smtClean="0"/>
              <a:t>16-10-2026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0FD3CD-773A-4771-BD97-05BB4C81FDE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713518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362F64-B922-4B13-9721-EA4E666902C9}" type="datetimeFigureOut">
              <a:rPr lang="en-IN" smtClean="0"/>
              <a:t>16-10-2026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0FD3CD-773A-4771-BD97-05BB4C81FDE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8543691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2861733"/>
            <a:ext cx="8825657" cy="1915647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5" y="4777381"/>
            <a:ext cx="8825658" cy="860400"/>
          </a:xfrm>
        </p:spPr>
        <p:txBody>
          <a:bodyPr anchor="t"/>
          <a:lstStyle>
            <a:lvl1pPr marL="0" indent="0" algn="l">
              <a:buNone/>
              <a:defRPr sz="2000" cap="all">
                <a:solidFill>
                  <a:schemeClr val="accent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362F64-B922-4B13-9721-EA4E666902C9}" type="datetimeFigureOut">
              <a:rPr lang="en-IN" smtClean="0"/>
              <a:t>16-10-2026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0FD3CD-773A-4771-BD97-05BB4C81FDE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9605893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03312" y="2060575"/>
            <a:ext cx="4396339" cy="419576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654493" y="2056092"/>
            <a:ext cx="4396341" cy="4200245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362F64-B922-4B13-9721-EA4E666902C9}" type="datetimeFigureOut">
              <a:rPr lang="en-IN" smtClean="0"/>
              <a:t>16-10-2026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0FD3CD-773A-4771-BD97-05BB4C81FDE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5325277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3" y="1905000"/>
            <a:ext cx="43963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03312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654495" y="1905000"/>
            <a:ext cx="439633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654495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362F64-B922-4B13-9721-EA4E666902C9}" type="datetimeFigureOut">
              <a:rPr lang="en-IN" smtClean="0"/>
              <a:t>16-10-2026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0FD3CD-773A-4771-BD97-05BB4C81FDE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467450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362F64-B922-4B13-9721-EA4E666902C9}" type="datetimeFigureOut">
              <a:rPr lang="en-IN" smtClean="0"/>
              <a:t>16-10-2026</a:t>
            </a:fld>
            <a:endParaRPr lang="en-IN"/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0FD3CD-773A-4771-BD97-05BB4C81FDE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5718584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362F64-B922-4B13-9721-EA4E666902C9}" type="datetimeFigureOut">
              <a:rPr lang="en-IN" smtClean="0"/>
              <a:t>16-10-2026</a:t>
            </a:fld>
            <a:endParaRPr lang="en-IN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0FD3CD-773A-4771-BD97-05BB4C81FDE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01354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1447800"/>
            <a:ext cx="3401064" cy="14478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84616" y="1447800"/>
            <a:ext cx="5195997" cy="4572000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129280"/>
            <a:ext cx="3401063" cy="289559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362F64-B922-4B13-9721-EA4E666902C9}" type="datetimeFigureOut">
              <a:rPr lang="en-IN" smtClean="0"/>
              <a:t>16-10-2026</a:t>
            </a:fld>
            <a:endParaRPr lang="en-IN"/>
          </a:p>
        </p:txBody>
      </p:sp>
      <p:sp>
        <p:nvSpPr>
          <p:cNvPr id="5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0FD3CD-773A-4771-BD97-05BB4C81FDE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6224133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3907" y="1854192"/>
            <a:ext cx="5092906" cy="1574808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949546" y="1143000"/>
            <a:ext cx="3200400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5084979" cy="1371600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362F64-B922-4B13-9721-EA4E666902C9}" type="datetimeFigureOut">
              <a:rPr lang="en-IN" smtClean="0"/>
              <a:t>16-10-2026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0FD3CD-773A-4771-BD97-05BB4C81FDE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748853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4800587"/>
            <a:ext cx="882565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5" y="685800"/>
            <a:ext cx="8825658" cy="3640666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6" y="5367325"/>
            <a:ext cx="8825656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362F64-B922-4B13-9721-EA4E666902C9}" type="datetimeFigureOut">
              <a:rPr lang="en-IN" smtClean="0"/>
              <a:t>16-10-2026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0FD3CD-773A-4771-BD97-05BB4C81FDE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6954478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1447800"/>
            <a:ext cx="8825659" cy="1981200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8825659" cy="23622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362F64-B922-4B13-9721-EA4E666902C9}" type="datetimeFigureOut">
              <a:rPr lang="en-IN" smtClean="0"/>
              <a:t>16-10-2026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0FD3CD-773A-4771-BD97-05BB4C81FDE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0708876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74801" y="1447800"/>
            <a:ext cx="7999315" cy="2323374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Text Placeholder 3"/>
          <p:cNvSpPr>
            <a:spLocks noGrp="1"/>
          </p:cNvSpPr>
          <p:nvPr>
            <p:ph type="body" sz="half" idx="13"/>
          </p:nvPr>
        </p:nvSpPr>
        <p:spPr>
          <a:xfrm>
            <a:off x="1930400" y="3771174"/>
            <a:ext cx="7279649" cy="342174"/>
          </a:xfrm>
        </p:spPr>
        <p:txBody>
          <a:bodyPr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4350657"/>
            <a:ext cx="8825659" cy="16764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362F64-B922-4B13-9721-EA4E666902C9}" type="datetimeFigureOut">
              <a:rPr lang="en-IN" smtClean="0"/>
              <a:t>16-10-2026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0FD3CD-773A-4771-BD97-05BB4C81FDE0}" type="slidenum">
              <a:rPr lang="en-IN" smtClean="0"/>
              <a:t>‹#›</a:t>
            </a:fld>
            <a:endParaRPr lang="en-IN"/>
          </a:p>
        </p:txBody>
      </p:sp>
      <p:sp>
        <p:nvSpPr>
          <p:cNvPr id="9" name="TextBox 8"/>
          <p:cNvSpPr txBox="1"/>
          <p:nvPr/>
        </p:nvSpPr>
        <p:spPr>
          <a:xfrm>
            <a:off x="898295" y="971253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accent1"/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330490" y="2613787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accent1"/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88429204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3124201"/>
            <a:ext cx="8825660" cy="165318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4777381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accent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362F64-B922-4B13-9721-EA4E666902C9}" type="datetimeFigureOut">
              <a:rPr lang="en-IN" smtClean="0"/>
              <a:t>16-10-2026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0FD3CD-773A-4771-BD97-05BB4C81FDE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6906420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2947" y="1981200"/>
            <a:ext cx="294686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652463" y="2667000"/>
            <a:ext cx="2927350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3659" y="1981200"/>
            <a:ext cx="293624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3873106" y="2667000"/>
            <a:ext cx="2946794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1981200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124700" y="2667000"/>
            <a:ext cx="2932113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362F64-B922-4B13-9721-EA4E666902C9}" type="datetimeFigureOut">
              <a:rPr lang="en-IN" smtClean="0"/>
              <a:t>16-10-2026</a:t>
            </a:fld>
            <a:endParaRPr lang="en-IN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0FD3CD-773A-4771-BD97-05BB4C81FDE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3653212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52463" y="4250949"/>
            <a:ext cx="294005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52463" y="2209800"/>
            <a:ext cx="2940050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652463" y="4827211"/>
            <a:ext cx="2940050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9375" y="4250949"/>
            <a:ext cx="29305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889374" y="2209800"/>
            <a:ext cx="2930525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3888022" y="4827210"/>
            <a:ext cx="2934406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4250949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124699" y="2209800"/>
            <a:ext cx="2932113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124575" y="4827208"/>
            <a:ext cx="2935997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362F64-B922-4B13-9721-EA4E666902C9}" type="datetimeFigureOut">
              <a:rPr lang="en-IN" smtClean="0"/>
              <a:t>16-10-2026</a:t>
            </a:fld>
            <a:endParaRPr lang="en-IN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0FD3CD-773A-4771-BD97-05BB4C81FDE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3728200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362F64-B922-4B13-9721-EA4E666902C9}" type="datetimeFigureOut">
              <a:rPr lang="en-IN" smtClean="0"/>
              <a:t>16-10-2026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0FD3CD-773A-4771-BD97-05BB4C81FDE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02591240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304212" y="430213"/>
            <a:ext cx="1752601" cy="5826125"/>
          </a:xfrm>
        </p:spPr>
        <p:txBody>
          <a:bodyPr vert="eaVert" anchor="b" anchorCtr="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52463" y="887414"/>
            <a:ext cx="7423149" cy="536892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362F64-B922-4B13-9721-EA4E666902C9}" type="datetimeFigureOut">
              <a:rPr lang="en-IN" smtClean="0"/>
              <a:t>16-10-2026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0FD3CD-773A-4771-BD97-05BB4C81FDE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925537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21" Type="http://schemas.openxmlformats.org/officeDocument/2006/relationships/image" Target="../media/image4.png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image" Target="../media/image5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3"/>
          <a:stretch/>
        </p:blipFill>
        <p:spPr>
          <a:xfrm>
            <a:off x="0" y="2669685"/>
            <a:ext cx="4037012" cy="418831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2892347"/>
            <a:ext cx="1522412" cy="2365453"/>
          </a:xfrm>
          <a:prstGeom prst="rect">
            <a:avLst/>
          </a:prstGeom>
        </p:spPr>
      </p:pic>
      <p:sp>
        <p:nvSpPr>
          <p:cNvPr id="16" name="Oval 15"/>
          <p:cNvSpPr/>
          <p:nvPr/>
        </p:nvSpPr>
        <p:spPr>
          <a:xfrm>
            <a:off x="860901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40000"/>
                  <a:lumOff val="60000"/>
                  <a:alpha val="7000"/>
                </a:schemeClr>
              </a:gs>
              <a:gs pos="69000">
                <a:schemeClr val="bg2">
                  <a:lumMod val="40000"/>
                  <a:lumOff val="60000"/>
                  <a:alpha val="0"/>
                </a:schemeClr>
              </a:gs>
              <a:gs pos="36000">
                <a:schemeClr val="bg2">
                  <a:lumMod val="40000"/>
                  <a:lumOff val="6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/>
        </p:blipFill>
        <p:spPr>
          <a:xfrm>
            <a:off x="7999412" y="0"/>
            <a:ext cx="1603387" cy="1141407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 rotWithShape="1"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8609012" y="6096000"/>
            <a:ext cx="993734" cy="76200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140053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2" y="2052918"/>
            <a:ext cx="8946541" cy="41954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5400000">
            <a:off x="10155639" y="1790701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fld id="{DF362F64-B922-4B13-9721-EA4E666902C9}" type="datetimeFigureOut">
              <a:rPr lang="en-IN" smtClean="0"/>
              <a:t>16-10-2026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5400000">
            <a:off x="8951573" y="3225297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20FD3CD-773A-4771-BD97-05BB4C81FDE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28776001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51" r:id="rId1"/>
    <p:sldLayoutId id="2147483752" r:id="rId2"/>
    <p:sldLayoutId id="2147483753" r:id="rId3"/>
    <p:sldLayoutId id="2147483754" r:id="rId4"/>
    <p:sldLayoutId id="2147483755" r:id="rId5"/>
    <p:sldLayoutId id="2147483756" r:id="rId6"/>
    <p:sldLayoutId id="2147483757" r:id="rId7"/>
    <p:sldLayoutId id="2147483758" r:id="rId8"/>
    <p:sldLayoutId id="2147483759" r:id="rId9"/>
    <p:sldLayoutId id="2147483760" r:id="rId10"/>
    <p:sldLayoutId id="2147483761" r:id="rId11"/>
    <p:sldLayoutId id="2147483762" r:id="rId12"/>
    <p:sldLayoutId id="2147483763" r:id="rId13"/>
    <p:sldLayoutId id="2147483764" r:id="rId14"/>
    <p:sldLayoutId id="2147483765" r:id="rId15"/>
    <p:sldLayoutId id="2147483766" r:id="rId16"/>
    <p:sldLayoutId id="2147483767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4200" b="0" i="0" kern="1200">
          <a:solidFill>
            <a:schemeClr val="tx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2000" b="0" i="0" kern="1200">
          <a:solidFill>
            <a:schemeClr val="tx1"/>
          </a:solidFill>
          <a:latin typeface="+mj-lt"/>
          <a:ea typeface="+mj-ea"/>
          <a:cs typeface="+mj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b="0" i="0" kern="1200">
          <a:solidFill>
            <a:schemeClr val="tx1"/>
          </a:solidFill>
          <a:latin typeface="+mj-lt"/>
          <a:ea typeface="+mj-ea"/>
          <a:cs typeface="+mj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b="0" i="0" kern="1200">
          <a:solidFill>
            <a:schemeClr val="tx1"/>
          </a:solidFill>
          <a:latin typeface="+mj-lt"/>
          <a:ea typeface="+mj-ea"/>
          <a:cs typeface="+mj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7" Type="http://schemas.openxmlformats.org/officeDocument/2006/relationships/image" Target="../media/image12.png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geeksforgeeks.org/data-analysis/exploratory-data-analysis-in-python/" TargetMode="External"/><Relationship Id="rId7" Type="http://schemas.openxmlformats.org/officeDocument/2006/relationships/hyperlink" Target="https://scikit-learn.org/stable/modules/generated/sklearn.linear_model.LinearRegression.html" TargetMode="External"/><Relationship Id="rId2" Type="http://schemas.openxmlformats.org/officeDocument/2006/relationships/hyperlink" Target="https://www.geeksforgeeks.org/data-analysis/data-analysis-with-python/" TargetMode="Externa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www.geeksforgeeks.org/python/flask-tutorial/" TargetMode="External"/><Relationship Id="rId5" Type="http://schemas.openxmlformats.org/officeDocument/2006/relationships/hyperlink" Target="https://www.geeksforgeeks.org/machine-learning/ml-linear-regression/" TargetMode="External"/><Relationship Id="rId4" Type="http://schemas.openxmlformats.org/officeDocument/2006/relationships/hyperlink" Target="https://www.geeksforgeeks.org/data-visualization/python-data-visualization-tutorial/" TargetMode="Externa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AA5DCBF3-5FCA-FE32-6767-8463730CB32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93576" y="306557"/>
            <a:ext cx="10804848" cy="5746102"/>
          </a:xfrm>
        </p:spPr>
        <p:txBody>
          <a:bodyPr anchor="t"/>
          <a:lstStyle/>
          <a:p>
            <a:pPr algn="ctr"/>
            <a:r>
              <a:rPr lang="en-US" sz="5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Project-8</a:t>
            </a:r>
            <a:br>
              <a:rPr lang="en-US" sz="5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sz="5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5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Job Market Analysis &amp; Recommendation System</a:t>
            </a:r>
            <a:br>
              <a:rPr lang="en-US" sz="5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sz="5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5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NextHikes</a:t>
            </a:r>
            <a:r>
              <a:rPr lang="en-US" sz="5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Solutions</a:t>
            </a:r>
            <a:br>
              <a:rPr lang="en-US" sz="5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5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By - Rakshit A Solanki</a:t>
            </a:r>
          </a:p>
        </p:txBody>
      </p:sp>
    </p:spTree>
    <p:extLst>
      <p:ext uri="{BB962C8B-B14F-4D97-AF65-F5344CB8AC3E}">
        <p14:creationId xmlns:p14="http://schemas.microsoft.com/office/powerpoint/2010/main" val="228118030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97881591-D4D1-9561-758C-7F3310262A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6111" y="82333"/>
            <a:ext cx="10862266" cy="1400530"/>
          </a:xfrm>
        </p:spPr>
        <p:txBody>
          <a:bodyPr/>
          <a:lstStyle/>
          <a:p>
            <a:pPr algn="ctr"/>
            <a:r>
              <a:rPr lang="en-US" sz="44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Project Overview</a:t>
            </a:r>
            <a:endParaRPr lang="en-US" b="1" u="sng" dirty="0"/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BFA3FDEA-0B7B-6A9A-3A33-39A188C5C08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50606" y="1022560"/>
            <a:ext cx="11100619" cy="5864936"/>
          </a:xfrm>
        </p:spPr>
        <p:txBody>
          <a:bodyPr>
            <a:normAutofit/>
          </a:bodyPr>
          <a:lstStyle/>
          <a:p>
            <a:pPr algn="just">
              <a:spcBef>
                <a:spcPts val="2000"/>
              </a:spcBef>
              <a:buClr>
                <a:schemeClr val="accent3">
                  <a:lumMod val="60000"/>
                  <a:lumOff val="40000"/>
                </a:schemeClr>
              </a:buClr>
              <a:buFont typeface="Wingdings" panose="05000000000000000000" pitchFamily="2" charset="2"/>
              <a:buChar char="Ø"/>
            </a:pPr>
            <a:r>
              <a:rPr lang="en-US" sz="2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job market changes continuously due to Technology, Business needs &amp; Economic conditions.</a:t>
            </a:r>
          </a:p>
          <a:p>
            <a:pPr algn="just">
              <a:spcBef>
                <a:spcPts val="2000"/>
              </a:spcBef>
              <a:buClr>
                <a:schemeClr val="accent3">
                  <a:lumMod val="60000"/>
                  <a:lumOff val="40000"/>
                </a:schemeClr>
              </a:buClr>
              <a:buFont typeface="Wingdings" panose="05000000000000000000" pitchFamily="2" charset="2"/>
              <a:buChar char="Ø"/>
            </a:pPr>
            <a:r>
              <a:rPr lang="en-US" sz="2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Job posting data helps identify salary patterns emerging categories and high demand roles.</a:t>
            </a:r>
          </a:p>
          <a:p>
            <a:pPr algn="just">
              <a:spcBef>
                <a:spcPts val="2000"/>
              </a:spcBef>
              <a:buClr>
                <a:schemeClr val="accent3">
                  <a:lumMod val="60000"/>
                  <a:lumOff val="40000"/>
                </a:schemeClr>
              </a:buClr>
              <a:buFont typeface="Wingdings" panose="05000000000000000000" pitchFamily="2" charset="2"/>
              <a:buChar char="Ø"/>
            </a:pPr>
            <a:r>
              <a:rPr lang="en-US" sz="2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project analyzes job posting to discover useful trends and support job seekers.</a:t>
            </a:r>
          </a:p>
          <a:p>
            <a:pPr algn="just">
              <a:spcBef>
                <a:spcPts val="2000"/>
              </a:spcBef>
              <a:buClr>
                <a:schemeClr val="accent3">
                  <a:lumMod val="60000"/>
                  <a:lumOff val="40000"/>
                </a:schemeClr>
              </a:buClr>
              <a:buFont typeface="Wingdings" panose="05000000000000000000" pitchFamily="2" charset="2"/>
              <a:buChar char="Ø"/>
            </a:pPr>
            <a:r>
              <a:rPr lang="en-US" sz="2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recommendation system dashboard were developed to make job information easier to explore.</a:t>
            </a:r>
          </a:p>
          <a:p>
            <a:pPr algn="just">
              <a:spcBef>
                <a:spcPts val="2000"/>
              </a:spcBef>
              <a:buClr>
                <a:schemeClr val="accent3">
                  <a:lumMod val="60000"/>
                  <a:lumOff val="40000"/>
                </a:schemeClr>
              </a:buClr>
              <a:buFont typeface="Wingdings" panose="05000000000000000000" pitchFamily="2" charset="2"/>
              <a:buChar char="Ø"/>
            </a:pPr>
            <a:r>
              <a:rPr lang="en-US" sz="2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flask-based web application was developed to provide job search, keyword-based recommendation &amp; job demand forecasting features.</a:t>
            </a:r>
          </a:p>
          <a:p>
            <a:pPr algn="just">
              <a:buFont typeface="Wingdings" panose="05000000000000000000" pitchFamily="2" charset="2"/>
              <a:buChar char="Ø"/>
            </a:pP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buFont typeface="Wingdings" panose="05000000000000000000" pitchFamily="2" charset="2"/>
              <a:buChar char="Ø"/>
            </a:pP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buFont typeface="Wingdings" panose="05000000000000000000" pitchFamily="2" charset="2"/>
              <a:buChar char="Ø"/>
            </a:pP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buFont typeface="Wingdings" panose="05000000000000000000" pitchFamily="2" charset="2"/>
              <a:buChar char="Ø"/>
            </a:pP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buFont typeface="Wingdings" panose="05000000000000000000" pitchFamily="2" charset="2"/>
              <a:buChar char="Ø"/>
            </a:pP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buFont typeface="Wingdings" panose="05000000000000000000" pitchFamily="2" charset="2"/>
              <a:buChar char="Ø"/>
            </a:pP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buFont typeface="Wingdings" panose="05000000000000000000" pitchFamily="2" charset="2"/>
              <a:buChar char="Ø"/>
            </a:pP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buFont typeface="Wingdings" panose="05000000000000000000" pitchFamily="2" charset="2"/>
              <a:buChar char="Ø"/>
            </a:pP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Wingdings" panose="05000000000000000000" pitchFamily="2" charset="2"/>
              <a:buChar char="Ø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826454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2724A66-CC6F-5CC7-964A-33A83B1399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6B483C56-BE57-E58C-132D-BB2C9B359A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6111" y="82333"/>
            <a:ext cx="10862266" cy="1400530"/>
          </a:xfrm>
        </p:spPr>
        <p:txBody>
          <a:bodyPr/>
          <a:lstStyle/>
          <a:p>
            <a:pPr algn="ctr"/>
            <a:r>
              <a:rPr lang="en-US" sz="44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</a:t>
            </a:r>
            <a:endParaRPr lang="en-US" b="1" u="sng" dirty="0"/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2F73F648-3E26-CFFC-7FE1-670BC198BB4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50606" y="1022560"/>
            <a:ext cx="11100619" cy="5864936"/>
          </a:xfrm>
        </p:spPr>
        <p:txBody>
          <a:bodyPr>
            <a:normAutofit/>
          </a:bodyPr>
          <a:lstStyle/>
          <a:p>
            <a:pPr algn="just">
              <a:spcBef>
                <a:spcPts val="2000"/>
              </a:spcBef>
              <a:buClr>
                <a:schemeClr val="accent3">
                  <a:lumMod val="60000"/>
                  <a:lumOff val="40000"/>
                </a:schemeClr>
              </a:buClr>
              <a:buFont typeface="Wingdings" panose="05000000000000000000" pitchFamily="2" charset="2"/>
              <a:buChar char="Ø"/>
            </a:pPr>
            <a:r>
              <a:rPr lang="en-US" sz="2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Job seekers often find it difficult to identify suitable opportunities and understand salary trends.</a:t>
            </a:r>
          </a:p>
          <a:p>
            <a:pPr algn="just">
              <a:spcBef>
                <a:spcPts val="2000"/>
              </a:spcBef>
              <a:buClr>
                <a:schemeClr val="accent3">
                  <a:lumMod val="60000"/>
                  <a:lumOff val="40000"/>
                </a:schemeClr>
              </a:buClr>
              <a:buFont typeface="Wingdings" panose="05000000000000000000" pitchFamily="2" charset="2"/>
              <a:buChar char="Ø"/>
            </a:pPr>
            <a:r>
              <a:rPr lang="en-US" sz="2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Job titles, formats and posting frequencies vary across job listings.</a:t>
            </a:r>
          </a:p>
          <a:p>
            <a:pPr algn="just">
              <a:spcBef>
                <a:spcPts val="2000"/>
              </a:spcBef>
              <a:buClr>
                <a:schemeClr val="accent3">
                  <a:lumMod val="60000"/>
                  <a:lumOff val="40000"/>
                </a:schemeClr>
              </a:buClr>
              <a:buFont typeface="Wingdings" panose="05000000000000000000" pitchFamily="2" charset="2"/>
              <a:buChar char="Ø"/>
            </a:pPr>
            <a:r>
              <a:rPr lang="en-US" sz="2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Changes in posting volume can make it difficult to identify genuine growth in demand.</a:t>
            </a:r>
          </a:p>
          <a:p>
            <a:pPr algn="just">
              <a:buFont typeface="Wingdings" panose="05000000000000000000" pitchFamily="2" charset="2"/>
              <a:buChar char="Ø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project aims to analyze these patterns, forecast job demand and provide keyword-based recommendations.</a:t>
            </a:r>
          </a:p>
          <a:p>
            <a:pPr algn="just">
              <a:buFont typeface="Wingdings" panose="05000000000000000000" pitchFamily="2" charset="2"/>
              <a:buChar char="Ø"/>
            </a:pP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buFont typeface="Wingdings" panose="05000000000000000000" pitchFamily="2" charset="2"/>
              <a:buChar char="Ø"/>
            </a:pP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buFont typeface="Wingdings" panose="05000000000000000000" pitchFamily="2" charset="2"/>
              <a:buChar char="Ø"/>
            </a:pP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buFont typeface="Wingdings" panose="05000000000000000000" pitchFamily="2" charset="2"/>
              <a:buChar char="Ø"/>
            </a:pP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buFont typeface="Wingdings" panose="05000000000000000000" pitchFamily="2" charset="2"/>
              <a:buChar char="Ø"/>
            </a:pP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buFont typeface="Wingdings" panose="05000000000000000000" pitchFamily="2" charset="2"/>
              <a:buChar char="Ø"/>
            </a:pP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buFont typeface="Wingdings" panose="05000000000000000000" pitchFamily="2" charset="2"/>
              <a:buChar char="Ø"/>
            </a:pP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Wingdings" panose="05000000000000000000" pitchFamily="2" charset="2"/>
              <a:buChar char="Ø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2118322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67A5FC3-C489-9A02-4B20-ADA4CB6001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EF4EDF37-0925-F2E2-9890-37326C8A72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6111" y="82333"/>
            <a:ext cx="10862266" cy="1400530"/>
          </a:xfrm>
        </p:spPr>
        <p:txBody>
          <a:bodyPr/>
          <a:lstStyle/>
          <a:p>
            <a:pPr algn="ctr"/>
            <a:r>
              <a:rPr lang="en-US" sz="44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Dataset Information</a:t>
            </a:r>
            <a:endParaRPr lang="en-US" b="1" u="sng" dirty="0"/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AE801C37-6857-9CF7-C8C3-A24AF20BEC8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50606" y="1012728"/>
            <a:ext cx="11080955" cy="5771527"/>
          </a:xfrm>
        </p:spPr>
        <p:txBody>
          <a:bodyPr>
            <a:normAutofit/>
          </a:bodyPr>
          <a:lstStyle/>
          <a:p>
            <a:pPr algn="just">
              <a:spcAft>
                <a:spcPts val="1000"/>
              </a:spcAft>
              <a:buClr>
                <a:schemeClr val="accent3">
                  <a:lumMod val="60000"/>
                  <a:lumOff val="40000"/>
                </a:schemeClr>
              </a:buClr>
              <a:buFont typeface="Wingdings" panose="05000000000000000000" pitchFamily="2" charset="2"/>
              <a:buChar char="Ø"/>
            </a:pPr>
            <a:r>
              <a:rPr lang="en-US" sz="2700" b="1" u="sng" dirty="0">
                <a:solidFill>
                  <a:schemeClr val="accent3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Dataset structure</a:t>
            </a:r>
          </a:p>
          <a:p>
            <a:pPr lvl="1" algn="just">
              <a:spcBef>
                <a:spcPts val="300"/>
              </a:spcBef>
              <a:spcAft>
                <a:spcPts val="300"/>
              </a:spcAft>
              <a:buClr>
                <a:schemeClr val="accent3">
                  <a:lumMod val="60000"/>
                  <a:lumOff val="40000"/>
                </a:schemeClr>
              </a:buClr>
              <a:buFont typeface="Wingdings" panose="05000000000000000000" pitchFamily="2" charset="2"/>
              <a:buChar char="ü"/>
            </a:pPr>
            <a:r>
              <a:rPr lang="en-US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dataset contains 2,44,828 job postings with 8 columns.</a:t>
            </a:r>
          </a:p>
          <a:p>
            <a:pPr lvl="1" algn="just">
              <a:spcBef>
                <a:spcPts val="300"/>
              </a:spcBef>
              <a:spcAft>
                <a:spcPts val="300"/>
              </a:spcAft>
              <a:buClr>
                <a:schemeClr val="accent3">
                  <a:lumMod val="60000"/>
                  <a:lumOff val="40000"/>
                </a:schemeClr>
              </a:buClr>
              <a:buFont typeface="Wingdings" panose="05000000000000000000" pitchFamily="2" charset="2"/>
              <a:buChar char="ü"/>
            </a:pPr>
            <a:r>
              <a:rPr lang="en-US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Each row represents a job posting collected from the job market dataset.</a:t>
            </a:r>
          </a:p>
          <a:p>
            <a:pPr lvl="1" algn="just">
              <a:spcBef>
                <a:spcPts val="300"/>
              </a:spcBef>
              <a:spcAft>
                <a:spcPts val="300"/>
              </a:spcAft>
              <a:buClr>
                <a:schemeClr val="accent3">
                  <a:lumMod val="60000"/>
                  <a:lumOff val="40000"/>
                </a:schemeClr>
              </a:buClr>
              <a:buFont typeface="Wingdings" panose="05000000000000000000" pitchFamily="2" charset="2"/>
              <a:buChar char="ü"/>
            </a:pPr>
            <a:r>
              <a:rPr lang="en-US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data covers the period from November 2023 to March 2024.</a:t>
            </a:r>
          </a:p>
          <a:p>
            <a:pPr algn="just">
              <a:spcAft>
                <a:spcPts val="1000"/>
              </a:spcAft>
              <a:buClr>
                <a:schemeClr val="accent3">
                  <a:lumMod val="60000"/>
                  <a:lumOff val="40000"/>
                </a:schemeClr>
              </a:buClr>
              <a:buFont typeface="Wingdings" panose="05000000000000000000" pitchFamily="2" charset="2"/>
              <a:buChar char="Ø"/>
            </a:pPr>
            <a:r>
              <a:rPr lang="en-US" sz="2700" b="1" u="sng" dirty="0">
                <a:solidFill>
                  <a:schemeClr val="accent3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Important variables</a:t>
            </a:r>
          </a:p>
          <a:p>
            <a:pPr lvl="1" algn="just">
              <a:spcBef>
                <a:spcPts val="300"/>
              </a:spcBef>
              <a:spcAft>
                <a:spcPts val="300"/>
              </a:spcAft>
              <a:buClr>
                <a:schemeClr val="accent3">
                  <a:lumMod val="60000"/>
                  <a:lumOff val="40000"/>
                </a:schemeClr>
              </a:buClr>
              <a:buFont typeface="Wingdings" panose="05000000000000000000" pitchFamily="2" charset="2"/>
              <a:buChar char="ü"/>
            </a:pPr>
            <a:r>
              <a:rPr lang="en-US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Title : Job title or Role.</a:t>
            </a:r>
          </a:p>
          <a:p>
            <a:pPr lvl="1" algn="just">
              <a:spcBef>
                <a:spcPts val="300"/>
              </a:spcBef>
              <a:spcAft>
                <a:spcPts val="300"/>
              </a:spcAft>
              <a:buClr>
                <a:schemeClr val="accent3">
                  <a:lumMod val="60000"/>
                  <a:lumOff val="40000"/>
                </a:schemeClr>
              </a:buClr>
              <a:buFont typeface="Wingdings" panose="05000000000000000000" pitchFamily="2" charset="2"/>
              <a:buChar char="ü"/>
            </a:pPr>
            <a:r>
              <a:rPr lang="en-US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Published date : Date when the job was posted.</a:t>
            </a:r>
          </a:p>
          <a:p>
            <a:pPr lvl="1" algn="just">
              <a:spcBef>
                <a:spcPts val="300"/>
              </a:spcBef>
              <a:spcAft>
                <a:spcPts val="300"/>
              </a:spcAft>
              <a:buClr>
                <a:schemeClr val="accent3">
                  <a:lumMod val="60000"/>
                  <a:lumOff val="40000"/>
                </a:schemeClr>
              </a:buClr>
              <a:buFont typeface="Wingdings" panose="05000000000000000000" pitchFamily="2" charset="2"/>
              <a:buChar char="ü"/>
            </a:pPr>
            <a:r>
              <a:rPr lang="en-US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Is hourly : indicates weather the job is hourly-based.</a:t>
            </a:r>
          </a:p>
          <a:p>
            <a:pPr lvl="1" algn="just">
              <a:spcBef>
                <a:spcPts val="300"/>
              </a:spcBef>
              <a:spcAft>
                <a:spcPts val="300"/>
              </a:spcAft>
              <a:buClr>
                <a:schemeClr val="accent3">
                  <a:lumMod val="60000"/>
                  <a:lumOff val="40000"/>
                </a:schemeClr>
              </a:buClr>
              <a:buFont typeface="Wingdings" panose="05000000000000000000" pitchFamily="2" charset="2"/>
              <a:buChar char="ü"/>
            </a:pPr>
            <a:r>
              <a:rPr lang="en-US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Budget : Project based budget information.</a:t>
            </a:r>
          </a:p>
          <a:p>
            <a:pPr lvl="1" algn="just">
              <a:spcBef>
                <a:spcPts val="300"/>
              </a:spcBef>
              <a:spcAft>
                <a:spcPts val="300"/>
              </a:spcAft>
              <a:buClr>
                <a:schemeClr val="accent3">
                  <a:lumMod val="60000"/>
                  <a:lumOff val="40000"/>
                </a:schemeClr>
              </a:buClr>
              <a:buFont typeface="Wingdings" panose="05000000000000000000" pitchFamily="2" charset="2"/>
              <a:buChar char="ü"/>
            </a:pPr>
            <a:r>
              <a:rPr lang="en-US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Country : Country associated with the job.</a:t>
            </a:r>
          </a:p>
          <a:p>
            <a:pPr lvl="1" algn="just">
              <a:spcBef>
                <a:spcPts val="300"/>
              </a:spcBef>
              <a:spcAft>
                <a:spcPts val="300"/>
              </a:spcAft>
              <a:buClr>
                <a:schemeClr val="accent3">
                  <a:lumMod val="60000"/>
                  <a:lumOff val="40000"/>
                </a:schemeClr>
              </a:buClr>
              <a:buFont typeface="Wingdings" panose="05000000000000000000" pitchFamily="2" charset="2"/>
              <a:buChar char="ü"/>
            </a:pPr>
            <a:r>
              <a:rPr lang="en-US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Link : URL of the job posting.</a:t>
            </a:r>
          </a:p>
          <a:p>
            <a:pPr lvl="1" algn="just">
              <a:spcBef>
                <a:spcPts val="300"/>
              </a:spcBef>
              <a:spcAft>
                <a:spcPts val="300"/>
              </a:spcAft>
              <a:buClr>
                <a:schemeClr val="accent3">
                  <a:lumMod val="60000"/>
                  <a:lumOff val="40000"/>
                </a:schemeClr>
              </a:buClr>
              <a:buFont typeface="Wingdings" panose="05000000000000000000" pitchFamily="2" charset="2"/>
              <a:buChar char="ü"/>
            </a:pP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buFont typeface="Wingdings" panose="05000000000000000000" pitchFamily="2" charset="2"/>
              <a:buChar char="Ø"/>
            </a:pP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Wingdings" panose="05000000000000000000" pitchFamily="2" charset="2"/>
              <a:buChar char="Ø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0016472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600391" y="3778086"/>
            <a:ext cx="11011506" cy="213904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marR="0" lvl="0" indent="-342900" algn="just">
              <a:spcAft>
                <a:spcPts val="1000"/>
              </a:spcAft>
              <a:buClr>
                <a:schemeClr val="accent3">
                  <a:lumMod val="60000"/>
                  <a:lumOff val="40000"/>
                </a:schemeClr>
              </a:buClr>
              <a:buSzPct val="80000"/>
              <a:buFont typeface="Wingdings" panose="05000000000000000000" pitchFamily="2" charset="2"/>
              <a:buChar char="Ø"/>
              <a:tabLst>
                <a:tab pos="457200" algn="l"/>
              </a:tabLst>
            </a:pPr>
            <a:r>
              <a:rPr lang="en-US" sz="2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dataset contains 2,44,827 job postings after preprocessing.</a:t>
            </a:r>
          </a:p>
          <a:p>
            <a:pPr marL="342900" marR="0" lvl="0" indent="-342900" algn="just">
              <a:spcAft>
                <a:spcPts val="1000"/>
              </a:spcAft>
              <a:buClr>
                <a:schemeClr val="accent3">
                  <a:lumMod val="60000"/>
                  <a:lumOff val="40000"/>
                </a:schemeClr>
              </a:buClr>
              <a:buSzPct val="80000"/>
              <a:buFont typeface="Wingdings" panose="05000000000000000000" pitchFamily="2" charset="2"/>
              <a:buChar char="Ø"/>
              <a:tabLst>
                <a:tab pos="457200" algn="l"/>
              </a:tabLst>
            </a:pPr>
            <a:r>
              <a:rPr lang="en-US" sz="2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Hourly jobs account for 1,40,936 postings (57.57%).</a:t>
            </a:r>
          </a:p>
          <a:p>
            <a:pPr marL="342900" marR="0" lvl="0" indent="-342900" algn="just">
              <a:spcAft>
                <a:spcPts val="1000"/>
              </a:spcAft>
              <a:buClr>
                <a:schemeClr val="accent3">
                  <a:lumMod val="60000"/>
                  <a:lumOff val="40000"/>
                </a:schemeClr>
              </a:buClr>
              <a:buSzPct val="80000"/>
              <a:buFont typeface="Wingdings" panose="05000000000000000000" pitchFamily="2" charset="2"/>
              <a:buChar char="Ø"/>
              <a:tabLst>
                <a:tab pos="457200" algn="l"/>
              </a:tabLst>
            </a:pPr>
            <a:r>
              <a:rPr lang="en-US" sz="2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Fixed budget jobs account for 1,03,891 postings (42.43%).</a:t>
            </a:r>
          </a:p>
          <a:p>
            <a:pPr marL="342900" marR="0" lvl="0" indent="-342900" algn="just">
              <a:spcAft>
                <a:spcPts val="1000"/>
              </a:spcAft>
              <a:buClr>
                <a:schemeClr val="accent3">
                  <a:lumMod val="60000"/>
                  <a:lumOff val="40000"/>
                </a:schemeClr>
              </a:buClr>
              <a:buSzPct val="80000"/>
              <a:buFont typeface="Wingdings" panose="05000000000000000000" pitchFamily="2" charset="2"/>
              <a:buChar char="Ø"/>
              <a:tabLst>
                <a:tab pos="457200" algn="l"/>
              </a:tabLst>
            </a:pPr>
            <a:r>
              <a:rPr lang="en-US" sz="2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Hourly jobs represents the larger share of job postings in the dataset.</a:t>
            </a:r>
          </a:p>
        </p:txBody>
      </p:sp>
      <p:sp>
        <p:nvSpPr>
          <p:cNvPr id="12" name="Title 1">
            <a:extLst>
              <a:ext uri="{FF2B5EF4-FFF2-40B4-BE49-F238E27FC236}">
                <a16:creationId xmlns:a16="http://schemas.microsoft.com/office/drawing/2014/main" id="{0831BD2B-D47D-5045-7BF9-B3A76B2C5A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6111" y="82333"/>
            <a:ext cx="10862266" cy="1400530"/>
          </a:xfrm>
        </p:spPr>
        <p:txBody>
          <a:bodyPr/>
          <a:lstStyle/>
          <a:p>
            <a:pPr algn="ctr"/>
            <a:r>
              <a:rPr lang="en-US" sz="44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Univariate Analysis</a:t>
            </a:r>
            <a:endParaRPr lang="en-US" b="1" u="sng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9D954A2-C8C7-8595-7FEC-DDA93105865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2281" y="1113234"/>
            <a:ext cx="10883608" cy="24450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3010341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A62193-9597-0FBE-4E1A-B98B32D70B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794458B6-09C2-03CB-3AAB-7F5F3312893C}"/>
              </a:ext>
            </a:extLst>
          </p:cNvPr>
          <p:cNvSpPr/>
          <p:nvPr/>
        </p:nvSpPr>
        <p:spPr>
          <a:xfrm>
            <a:off x="600391" y="3778086"/>
            <a:ext cx="11011506" cy="255454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marR="0" lvl="0" indent="-342900" algn="just">
              <a:spcAft>
                <a:spcPts val="1000"/>
              </a:spcAft>
              <a:buClr>
                <a:schemeClr val="accent3">
                  <a:lumMod val="60000"/>
                  <a:lumOff val="40000"/>
                </a:schemeClr>
              </a:buClr>
              <a:buSzPct val="80000"/>
              <a:buFont typeface="Wingdings" panose="05000000000000000000" pitchFamily="2" charset="2"/>
              <a:buChar char="Ø"/>
              <a:tabLst>
                <a:tab pos="457200" algn="l"/>
              </a:tabLst>
            </a:pPr>
            <a:r>
              <a:rPr lang="en-US" sz="2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Social media manager is the most frequently posted title among top 10 with 419 postings.</a:t>
            </a:r>
          </a:p>
          <a:p>
            <a:pPr marL="342900" marR="0" lvl="0" indent="-342900" algn="just">
              <a:spcAft>
                <a:spcPts val="1000"/>
              </a:spcAft>
              <a:buClr>
                <a:schemeClr val="accent3">
                  <a:lumMod val="60000"/>
                  <a:lumOff val="40000"/>
                </a:schemeClr>
              </a:buClr>
              <a:buSzPct val="80000"/>
              <a:buFont typeface="Wingdings" panose="05000000000000000000" pitchFamily="2" charset="2"/>
              <a:buChar char="Ø"/>
              <a:tabLst>
                <a:tab pos="457200" algn="l"/>
              </a:tabLst>
            </a:pPr>
            <a:r>
              <a:rPr lang="en-US" sz="2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Virtual assistant rank second with 339 postings.</a:t>
            </a:r>
          </a:p>
          <a:p>
            <a:pPr marL="342900" marR="0" lvl="0" indent="-342900" algn="just">
              <a:spcAft>
                <a:spcPts val="1000"/>
              </a:spcAft>
              <a:buClr>
                <a:schemeClr val="accent3">
                  <a:lumMod val="60000"/>
                  <a:lumOff val="40000"/>
                </a:schemeClr>
              </a:buClr>
              <a:buSzPct val="80000"/>
              <a:buFont typeface="Wingdings" panose="05000000000000000000" pitchFamily="2" charset="2"/>
              <a:buChar char="Ø"/>
              <a:tabLst>
                <a:tab pos="457200" algn="l"/>
              </a:tabLst>
            </a:pPr>
            <a:r>
              <a:rPr lang="en-US" sz="2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Video editor has 298 postings while Graphic Designer has 292 postings.</a:t>
            </a:r>
          </a:p>
          <a:p>
            <a:pPr marL="342900" marR="0" lvl="0" indent="-342900" algn="just">
              <a:spcAft>
                <a:spcPts val="1000"/>
              </a:spcAft>
              <a:buClr>
                <a:schemeClr val="accent3">
                  <a:lumMod val="60000"/>
                  <a:lumOff val="40000"/>
                </a:schemeClr>
              </a:buClr>
              <a:buSzPct val="80000"/>
              <a:buFont typeface="Wingdings" panose="05000000000000000000" pitchFamily="2" charset="2"/>
              <a:buChar char="Ø"/>
              <a:tabLst>
                <a:tab pos="457200" algn="l"/>
              </a:tabLst>
            </a:pPr>
            <a:r>
              <a:rPr lang="en-US" sz="2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These counts highlight frequently appearing job titles in the dataset.</a:t>
            </a:r>
          </a:p>
        </p:txBody>
      </p:sp>
      <p:sp>
        <p:nvSpPr>
          <p:cNvPr id="12" name="Title 1">
            <a:extLst>
              <a:ext uri="{FF2B5EF4-FFF2-40B4-BE49-F238E27FC236}">
                <a16:creationId xmlns:a16="http://schemas.microsoft.com/office/drawing/2014/main" id="{F9AB155F-C6BA-006D-FDE3-FE5BC041E2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6111" y="82333"/>
            <a:ext cx="10862266" cy="1400530"/>
          </a:xfrm>
        </p:spPr>
        <p:txBody>
          <a:bodyPr/>
          <a:lstStyle/>
          <a:p>
            <a:pPr algn="ctr"/>
            <a:r>
              <a:rPr lang="en-US" sz="44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Univariate Analysis</a:t>
            </a:r>
            <a:endParaRPr lang="en-US" b="1" u="sng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CAF07EB-01F7-4F26-3BCE-0C799F3C363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3623" y="1067590"/>
            <a:ext cx="10824754" cy="25998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4117355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B9EF7B-6E37-A4FB-214E-A7B4DACCB9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EB16D979-48E5-3881-514F-6599F2DB7956}"/>
              </a:ext>
            </a:extLst>
          </p:cNvPr>
          <p:cNvSpPr/>
          <p:nvPr/>
        </p:nvSpPr>
        <p:spPr>
          <a:xfrm>
            <a:off x="570271" y="3778086"/>
            <a:ext cx="11031794" cy="255454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marR="0" lvl="0" indent="-342900" algn="just">
              <a:spcAft>
                <a:spcPts val="1000"/>
              </a:spcAft>
              <a:buClr>
                <a:schemeClr val="accent3">
                  <a:lumMod val="60000"/>
                  <a:lumOff val="40000"/>
                </a:schemeClr>
              </a:buClr>
              <a:buSzPct val="80000"/>
              <a:buFont typeface="Wingdings" panose="05000000000000000000" pitchFamily="2" charset="2"/>
              <a:buChar char="Ø"/>
              <a:tabLst>
                <a:tab pos="457200" algn="l"/>
              </a:tabLst>
            </a:pPr>
            <a:r>
              <a:rPr lang="en-US" sz="2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United States has 99,834 postings, including 64,794 hourly jobs and 35,040 fixed budget jobs.</a:t>
            </a:r>
          </a:p>
          <a:p>
            <a:pPr marL="342900" marR="0" lvl="0" indent="-342900" algn="just">
              <a:spcAft>
                <a:spcPts val="1000"/>
              </a:spcAft>
              <a:buClr>
                <a:schemeClr val="accent3">
                  <a:lumMod val="60000"/>
                  <a:lumOff val="40000"/>
                </a:schemeClr>
              </a:buClr>
              <a:buSzPct val="80000"/>
              <a:buFont typeface="Wingdings" panose="05000000000000000000" pitchFamily="2" charset="2"/>
              <a:buChar char="Ø"/>
              <a:tabLst>
                <a:tab pos="457200" algn="l"/>
              </a:tabLst>
            </a:pPr>
            <a:r>
              <a:rPr lang="en-US" sz="2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United Kingdom has 11,335 hourly jobs and 7,814 fixed budget jobs.</a:t>
            </a:r>
          </a:p>
          <a:p>
            <a:pPr marL="342900" marR="0" lvl="0" indent="-342900" algn="just">
              <a:spcAft>
                <a:spcPts val="1000"/>
              </a:spcAft>
              <a:buClr>
                <a:schemeClr val="accent3">
                  <a:lumMod val="60000"/>
                  <a:lumOff val="40000"/>
                </a:schemeClr>
              </a:buClr>
              <a:buSzPct val="80000"/>
              <a:buFont typeface="Wingdings" panose="05000000000000000000" pitchFamily="2" charset="2"/>
              <a:buChar char="Ø"/>
              <a:tabLst>
                <a:tab pos="457200" algn="l"/>
              </a:tabLst>
            </a:pPr>
            <a:r>
              <a:rPr lang="en-US" sz="2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India has more fixed budget jobs 9,046 than hourly jobs 6,789.</a:t>
            </a:r>
          </a:p>
          <a:p>
            <a:pPr marL="342900" marR="0" lvl="0" indent="-342900" algn="just">
              <a:spcAft>
                <a:spcPts val="1000"/>
              </a:spcAft>
              <a:buClr>
                <a:schemeClr val="accent3">
                  <a:lumMod val="60000"/>
                  <a:lumOff val="40000"/>
                </a:schemeClr>
              </a:buClr>
              <a:buSzPct val="80000"/>
              <a:buFont typeface="Wingdings" panose="05000000000000000000" pitchFamily="2" charset="2"/>
              <a:buChar char="Ø"/>
              <a:tabLst>
                <a:tab pos="457200" algn="l"/>
              </a:tabLst>
            </a:pPr>
            <a:r>
              <a:rPr lang="en-US" sz="2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job type mix differs across countries.</a:t>
            </a:r>
          </a:p>
        </p:txBody>
      </p:sp>
      <p:sp>
        <p:nvSpPr>
          <p:cNvPr id="12" name="Title 1">
            <a:extLst>
              <a:ext uri="{FF2B5EF4-FFF2-40B4-BE49-F238E27FC236}">
                <a16:creationId xmlns:a16="http://schemas.microsoft.com/office/drawing/2014/main" id="{5F3617B1-F035-59C4-6709-7AE28F9F6A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6111" y="82333"/>
            <a:ext cx="10862266" cy="1400530"/>
          </a:xfrm>
        </p:spPr>
        <p:txBody>
          <a:bodyPr/>
          <a:lstStyle/>
          <a:p>
            <a:pPr algn="ctr"/>
            <a:r>
              <a:rPr lang="en-US" sz="44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Bivariate Analysis</a:t>
            </a:r>
            <a:endParaRPr lang="en-US" b="1" u="sng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15772953-C062-8DE1-0A66-9DB01FD5206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4918" y="988858"/>
            <a:ext cx="10862266" cy="25224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7833079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3F5559-3054-0868-490B-51B6796003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24AFBF22-0323-A957-3987-0EA5BA18F1F4}"/>
              </a:ext>
            </a:extLst>
          </p:cNvPr>
          <p:cNvSpPr/>
          <p:nvPr/>
        </p:nvSpPr>
        <p:spPr>
          <a:xfrm>
            <a:off x="600390" y="3768254"/>
            <a:ext cx="10982009" cy="242630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marR="0" lvl="0" indent="-342900" algn="just">
              <a:spcAft>
                <a:spcPts val="1000"/>
              </a:spcAft>
              <a:buClr>
                <a:schemeClr val="accent3">
                  <a:lumMod val="60000"/>
                  <a:lumOff val="40000"/>
                </a:schemeClr>
              </a:buClr>
              <a:buSzPct val="80000"/>
              <a:buFont typeface="Wingdings" panose="05000000000000000000" pitchFamily="2" charset="2"/>
              <a:buChar char="Ø"/>
              <a:tabLst>
                <a:tab pos="457200" algn="l"/>
              </a:tabLst>
            </a:pPr>
            <a:r>
              <a:rPr lang="en-US" sz="2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Logo design has the highest average minimum hourly rate among the ten displayed titles at 20.68 across 81 records.</a:t>
            </a:r>
          </a:p>
          <a:p>
            <a:pPr marL="342900" marR="0" lvl="0" indent="-342900" algn="just">
              <a:spcAft>
                <a:spcPts val="1000"/>
              </a:spcAft>
              <a:buClr>
                <a:schemeClr val="accent3">
                  <a:lumMod val="60000"/>
                  <a:lumOff val="40000"/>
                </a:schemeClr>
              </a:buClr>
              <a:buSzPct val="80000"/>
              <a:buFont typeface="Wingdings" panose="05000000000000000000" pitchFamily="2" charset="2"/>
              <a:buChar char="Ø"/>
              <a:tabLst>
                <a:tab pos="457200" algn="l"/>
              </a:tabLst>
            </a:pPr>
            <a:r>
              <a:rPr lang="en-US" sz="2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Full stack developer ranks second at 19.60 across 84 records.</a:t>
            </a:r>
          </a:p>
          <a:p>
            <a:pPr marL="342900" marR="0" lvl="0" indent="-342900" algn="just">
              <a:spcAft>
                <a:spcPts val="1000"/>
              </a:spcAft>
              <a:buClr>
                <a:schemeClr val="accent3">
                  <a:lumMod val="60000"/>
                  <a:lumOff val="40000"/>
                </a:schemeClr>
              </a:buClr>
              <a:buSzPct val="80000"/>
              <a:buFont typeface="Wingdings" panose="05000000000000000000" pitchFamily="2" charset="2"/>
              <a:buChar char="Ø"/>
              <a:tabLst>
                <a:tab pos="457200" algn="l"/>
              </a:tabLst>
            </a:pPr>
            <a:r>
              <a:rPr lang="en-US" sz="2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Graphic Designer has an average minimum rate of 16.31 across 164 records.</a:t>
            </a:r>
          </a:p>
        </p:txBody>
      </p:sp>
      <p:sp>
        <p:nvSpPr>
          <p:cNvPr id="12" name="Title 1">
            <a:extLst>
              <a:ext uri="{FF2B5EF4-FFF2-40B4-BE49-F238E27FC236}">
                <a16:creationId xmlns:a16="http://schemas.microsoft.com/office/drawing/2014/main" id="{0B5DFB55-49B8-BC22-893F-6FE7B3CB36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6111" y="82333"/>
            <a:ext cx="10862266" cy="1400530"/>
          </a:xfrm>
        </p:spPr>
        <p:txBody>
          <a:bodyPr/>
          <a:lstStyle/>
          <a:p>
            <a:pPr algn="ctr"/>
            <a:r>
              <a:rPr lang="en-US" sz="44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Multivariate Analysis</a:t>
            </a:r>
            <a:endParaRPr lang="en-US" b="1" u="sng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62DF5B0-AB6E-869E-DE04-0967017FD6F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8597" y="988858"/>
            <a:ext cx="10733313" cy="25802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6302626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DE661D1-CC34-F668-0C97-94FFAAAB88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12D1DCA7-74EB-984A-658D-9FF0EA793A1C}"/>
              </a:ext>
            </a:extLst>
          </p:cNvPr>
          <p:cNvSpPr/>
          <p:nvPr/>
        </p:nvSpPr>
        <p:spPr>
          <a:xfrm>
            <a:off x="5576023" y="1313046"/>
            <a:ext cx="5969866" cy="463203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marR="0" lvl="0" indent="-342900" algn="just">
              <a:spcAft>
                <a:spcPts val="1000"/>
              </a:spcAft>
              <a:buClr>
                <a:schemeClr val="accent3">
                  <a:lumMod val="60000"/>
                  <a:lumOff val="40000"/>
                </a:schemeClr>
              </a:buClr>
              <a:buSzPct val="80000"/>
              <a:buFont typeface="Wingdings" panose="05000000000000000000" pitchFamily="2" charset="2"/>
              <a:buChar char="Ø"/>
              <a:tabLst>
                <a:tab pos="457200" algn="l"/>
              </a:tabLst>
            </a:pPr>
            <a:r>
              <a:rPr lang="en-US" sz="2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heatmap examines relationships between hourly minimum rates, maximum rates &amp; project budgets.</a:t>
            </a:r>
          </a:p>
          <a:p>
            <a:pPr marL="342900" marR="0" lvl="0" indent="-342900" algn="just">
              <a:spcAft>
                <a:spcPts val="1000"/>
              </a:spcAft>
              <a:buClr>
                <a:schemeClr val="accent3">
                  <a:lumMod val="60000"/>
                  <a:lumOff val="40000"/>
                </a:schemeClr>
              </a:buClr>
              <a:buSzPct val="80000"/>
              <a:buFont typeface="Wingdings" panose="05000000000000000000" pitchFamily="2" charset="2"/>
              <a:buChar char="Ø"/>
              <a:tabLst>
                <a:tab pos="457200" algn="l"/>
              </a:tabLst>
            </a:pPr>
            <a:r>
              <a:rPr lang="en-US" sz="2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Correlation values help identify the direction and strength of linear relationship.</a:t>
            </a:r>
          </a:p>
          <a:p>
            <a:pPr marL="342900" marR="0" lvl="0" indent="-342900" algn="just">
              <a:spcAft>
                <a:spcPts val="1000"/>
              </a:spcAft>
              <a:buClr>
                <a:schemeClr val="accent3">
                  <a:lumMod val="60000"/>
                  <a:lumOff val="40000"/>
                </a:schemeClr>
              </a:buClr>
              <a:buSzPct val="80000"/>
              <a:buFont typeface="Wingdings" panose="05000000000000000000" pitchFamily="2" charset="2"/>
              <a:buChar char="Ø"/>
              <a:tabLst>
                <a:tab pos="457200" algn="l"/>
              </a:tabLst>
            </a:pPr>
            <a:r>
              <a:rPr lang="en-US" sz="2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Compensation fields have substantial missing data	 so the analysis uses available values.</a:t>
            </a:r>
          </a:p>
          <a:p>
            <a:pPr marL="342900" marR="0" lvl="0" indent="-342900" algn="just">
              <a:spcAft>
                <a:spcPts val="1000"/>
              </a:spcAft>
              <a:buClr>
                <a:schemeClr val="accent3">
                  <a:lumMod val="60000"/>
                  <a:lumOff val="40000"/>
                </a:schemeClr>
              </a:buClr>
              <a:buSzPct val="80000"/>
              <a:buFont typeface="Wingdings" panose="05000000000000000000" pitchFamily="2" charset="2"/>
              <a:buChar char="Ø"/>
              <a:tabLst>
                <a:tab pos="457200" algn="l"/>
              </a:tabLst>
            </a:pPr>
            <a:endParaRPr lang="en-US" sz="27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Title 1">
            <a:extLst>
              <a:ext uri="{FF2B5EF4-FFF2-40B4-BE49-F238E27FC236}">
                <a16:creationId xmlns:a16="http://schemas.microsoft.com/office/drawing/2014/main" id="{FA440BED-9374-1DDE-38F0-D9C6C44796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6111" y="82333"/>
            <a:ext cx="10862266" cy="1400530"/>
          </a:xfrm>
        </p:spPr>
        <p:txBody>
          <a:bodyPr/>
          <a:lstStyle/>
          <a:p>
            <a:pPr algn="ctr"/>
            <a:r>
              <a:rPr lang="en-US" sz="44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Correlation Heatmap</a:t>
            </a:r>
            <a:endParaRPr lang="en-US" b="1" u="sng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1D02BB72-5F01-39C8-80D7-D98F701784E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9133" y="1443530"/>
            <a:ext cx="5010444" cy="42100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6351889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DA84F7-14FB-7608-349B-C3E8DB5F3D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AE42FD15-3534-DF10-1040-AEB04C5012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6111" y="82333"/>
            <a:ext cx="10862266" cy="1400530"/>
          </a:xfrm>
        </p:spPr>
        <p:txBody>
          <a:bodyPr/>
          <a:lstStyle/>
          <a:p>
            <a:pPr algn="ctr"/>
            <a:r>
              <a:rPr lang="en-US" sz="44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Feature Engineering</a:t>
            </a:r>
            <a:endParaRPr lang="en-US" b="1" u="sng" dirty="0"/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5A8313F5-C132-7D2B-4BB6-380863C9B5A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50606" y="1071720"/>
            <a:ext cx="11080955" cy="6066496"/>
          </a:xfrm>
        </p:spPr>
        <p:txBody>
          <a:bodyPr>
            <a:normAutofit/>
          </a:bodyPr>
          <a:lstStyle/>
          <a:p>
            <a:pPr algn="just">
              <a:spcAft>
                <a:spcPts val="1000"/>
              </a:spcAft>
              <a:buClr>
                <a:schemeClr val="accent3">
                  <a:lumMod val="60000"/>
                  <a:lumOff val="40000"/>
                </a:schemeClr>
              </a:buClr>
              <a:buFont typeface="Wingdings" panose="05000000000000000000" pitchFamily="2" charset="2"/>
              <a:buChar char="Ø"/>
            </a:pPr>
            <a:r>
              <a:rPr lang="en-US" sz="2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Date based features were extracted from the job posting date to analyze job market trends over time.</a:t>
            </a:r>
          </a:p>
          <a:p>
            <a:pPr algn="just">
              <a:spcAft>
                <a:spcPts val="1000"/>
              </a:spcAft>
              <a:buClr>
                <a:schemeClr val="accent3">
                  <a:lumMod val="60000"/>
                  <a:lumOff val="40000"/>
                </a:schemeClr>
              </a:buClr>
              <a:buFont typeface="Wingdings" panose="05000000000000000000" pitchFamily="2" charset="2"/>
              <a:buChar char="Ø"/>
            </a:pPr>
            <a:r>
              <a:rPr lang="en-US" sz="2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year and month were extracted to track changes in job posting frequency.</a:t>
            </a:r>
          </a:p>
          <a:p>
            <a:pPr algn="just">
              <a:buFont typeface="Wingdings" panose="05000000000000000000" pitchFamily="2" charset="2"/>
              <a:buChar char="Ø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month name was created to make monthly trend analysis easier to understand.</a:t>
            </a:r>
          </a:p>
          <a:p>
            <a:pPr algn="just">
              <a:buFont typeface="Wingdings" panose="05000000000000000000" pitchFamily="2" charset="2"/>
              <a:buChar char="Ø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day &amp; weekday were extracted to study job posting patterns by date.</a:t>
            </a:r>
          </a:p>
          <a:p>
            <a:pPr algn="just">
              <a:buFont typeface="Wingdings" panose="05000000000000000000" pitchFamily="2" charset="2"/>
              <a:buChar char="Ø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These features supported monthly trend visualization and time based job demand forecasting.</a:t>
            </a:r>
          </a:p>
          <a:p>
            <a:pPr algn="just">
              <a:buFont typeface="Wingdings" panose="05000000000000000000" pitchFamily="2" charset="2"/>
              <a:buChar char="Ø"/>
            </a:pP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buFont typeface="Wingdings" panose="05000000000000000000" pitchFamily="2" charset="2"/>
              <a:buChar char="Ø"/>
            </a:pP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Wingdings" panose="05000000000000000000" pitchFamily="2" charset="2"/>
              <a:buChar char="Ø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7343111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F7263E-3D56-65B6-A458-9F02789DFF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FB6CD797-B4B1-3D7A-ECFB-88D7AEE2BC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6111" y="82333"/>
            <a:ext cx="10862266" cy="1400530"/>
          </a:xfrm>
        </p:spPr>
        <p:txBody>
          <a:bodyPr/>
          <a:lstStyle/>
          <a:p>
            <a:pPr algn="ctr"/>
            <a:r>
              <a:rPr lang="en-US" sz="44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Outlier Detection</a:t>
            </a:r>
            <a:endParaRPr lang="en-US" b="1" u="sng" dirty="0"/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176F0471-33F4-013D-18F0-97FF9F465EB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50606" y="1071720"/>
            <a:ext cx="11080955" cy="6066496"/>
          </a:xfrm>
        </p:spPr>
        <p:txBody>
          <a:bodyPr>
            <a:normAutofit/>
          </a:bodyPr>
          <a:lstStyle/>
          <a:p>
            <a:pPr algn="just">
              <a:spcAft>
                <a:spcPts val="1000"/>
              </a:spcAft>
              <a:buClr>
                <a:schemeClr val="accent3">
                  <a:lumMod val="60000"/>
                  <a:lumOff val="40000"/>
                </a:schemeClr>
              </a:buClr>
              <a:buFont typeface="Wingdings" panose="05000000000000000000" pitchFamily="2" charset="2"/>
              <a:buChar char="Ø"/>
            </a:pPr>
            <a:r>
              <a:rPr lang="en-US" sz="2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interquartile range (IQR) method was used to identify potential outliers in the compensation related numeric columns.</a:t>
            </a:r>
          </a:p>
          <a:p>
            <a:pPr algn="just">
              <a:spcAft>
                <a:spcPts val="1000"/>
              </a:spcAft>
              <a:buClr>
                <a:schemeClr val="accent3">
                  <a:lumMod val="60000"/>
                  <a:lumOff val="40000"/>
                </a:schemeClr>
              </a:buClr>
              <a:buFont typeface="Wingdings" panose="05000000000000000000" pitchFamily="2" charset="2"/>
              <a:buChar char="Ø"/>
            </a:pPr>
            <a:r>
              <a:rPr lang="en-US" sz="2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budget column contained the highest number of outliers with 12,993 records.</a:t>
            </a:r>
          </a:p>
          <a:p>
            <a:pPr algn="just">
              <a:spcAft>
                <a:spcPts val="1000"/>
              </a:spcAft>
              <a:buClr>
                <a:schemeClr val="accent3">
                  <a:lumMod val="60000"/>
                  <a:lumOff val="40000"/>
                </a:schemeClr>
              </a:buClr>
              <a:buFont typeface="Wingdings" panose="05000000000000000000" pitchFamily="2" charset="2"/>
              <a:buChar char="Ø"/>
            </a:pPr>
            <a:r>
              <a:rPr lang="en-US" sz="2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hourly minimum rate column had 8,450 outliers.</a:t>
            </a:r>
          </a:p>
          <a:p>
            <a:pPr algn="just">
              <a:spcAft>
                <a:spcPts val="1000"/>
              </a:spcAft>
              <a:buClr>
                <a:schemeClr val="accent3">
                  <a:lumMod val="60000"/>
                  <a:lumOff val="40000"/>
                </a:schemeClr>
              </a:buClr>
              <a:buFont typeface="Wingdings" panose="05000000000000000000" pitchFamily="2" charset="2"/>
              <a:buChar char="Ø"/>
            </a:pPr>
            <a:r>
              <a:rPr lang="en-US" sz="2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hourly maximum rate column had 7,029 outliers.</a:t>
            </a:r>
          </a:p>
          <a:p>
            <a:pPr algn="just">
              <a:spcAft>
                <a:spcPts val="1000"/>
              </a:spcAft>
              <a:buClr>
                <a:schemeClr val="accent3">
                  <a:lumMod val="60000"/>
                  <a:lumOff val="40000"/>
                </a:schemeClr>
              </a:buClr>
              <a:buFont typeface="Wingdings" panose="05000000000000000000" pitchFamily="2" charset="2"/>
              <a:buChar char="Ø"/>
            </a:pPr>
            <a:r>
              <a:rPr lang="en-US" sz="2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Budget values showed more extreme variation compared to the hourly rate columns.</a:t>
            </a:r>
          </a:p>
          <a:p>
            <a:pPr algn="just">
              <a:spcAft>
                <a:spcPts val="1000"/>
              </a:spcAft>
              <a:buClr>
                <a:schemeClr val="accent3">
                  <a:lumMod val="60000"/>
                  <a:lumOff val="40000"/>
                </a:schemeClr>
              </a:buClr>
              <a:buFont typeface="Wingdings" panose="05000000000000000000" pitchFamily="2" charset="2"/>
              <a:buChar char="Ø"/>
            </a:pPr>
            <a:r>
              <a:rPr lang="en-US" sz="2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outliers may represent usually high or low job compensation </a:t>
            </a:r>
            <a:r>
              <a:rPr lang="en-US" sz="27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values.s</a:t>
            </a:r>
            <a:endParaRPr lang="en-US" sz="27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buFont typeface="Wingdings" panose="05000000000000000000" pitchFamily="2" charset="2"/>
              <a:buChar char="Ø"/>
            </a:pP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buFont typeface="Wingdings" panose="05000000000000000000" pitchFamily="2" charset="2"/>
              <a:buChar char="Ø"/>
            </a:pP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Wingdings" panose="05000000000000000000" pitchFamily="2" charset="2"/>
              <a:buChar char="Ø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7289127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BE737E-C4DB-1653-B7E5-2B9F8273BD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59EA4107-5BE9-3396-A609-ADE5ECED477B}"/>
              </a:ext>
            </a:extLst>
          </p:cNvPr>
          <p:cNvSpPr/>
          <p:nvPr/>
        </p:nvSpPr>
        <p:spPr>
          <a:xfrm>
            <a:off x="600390" y="3768254"/>
            <a:ext cx="10982009" cy="20108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marR="0" lvl="0" indent="-342900" algn="just">
              <a:spcAft>
                <a:spcPts val="1000"/>
              </a:spcAft>
              <a:buClr>
                <a:schemeClr val="accent3">
                  <a:lumMod val="60000"/>
                  <a:lumOff val="40000"/>
                </a:schemeClr>
              </a:buClr>
              <a:buSzPct val="80000"/>
              <a:buFont typeface="Wingdings" panose="05000000000000000000" pitchFamily="2" charset="2"/>
              <a:buChar char="Ø"/>
              <a:tabLst>
                <a:tab pos="457200" algn="l"/>
              </a:tabLst>
            </a:pPr>
            <a:r>
              <a:rPr lang="en-US" sz="2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median minimum hourly rate is 15.00 while the median maximum rate is 30.00</a:t>
            </a:r>
          </a:p>
          <a:p>
            <a:pPr marL="342900" marR="0" lvl="0" indent="-342900" algn="just">
              <a:spcAft>
                <a:spcPts val="1000"/>
              </a:spcAft>
              <a:buClr>
                <a:schemeClr val="accent3">
                  <a:lumMod val="60000"/>
                  <a:lumOff val="40000"/>
                </a:schemeClr>
              </a:buClr>
              <a:buSzPct val="80000"/>
              <a:buFont typeface="Wingdings" panose="05000000000000000000" pitchFamily="2" charset="2"/>
              <a:buChar char="Ø"/>
              <a:tabLst>
                <a:tab pos="457200" algn="l"/>
              </a:tabLst>
            </a:pPr>
            <a:r>
              <a:rPr lang="en-US" sz="2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middle 50% of minimum hourly rates ranges from 8.00 to 20.00.</a:t>
            </a:r>
          </a:p>
          <a:p>
            <a:pPr marL="342900" marR="0" lvl="0" indent="-342900" algn="just">
              <a:spcAft>
                <a:spcPts val="1000"/>
              </a:spcAft>
              <a:buClr>
                <a:schemeClr val="accent3">
                  <a:lumMod val="60000"/>
                  <a:lumOff val="40000"/>
                </a:schemeClr>
              </a:buClr>
              <a:buSzPct val="80000"/>
              <a:buFont typeface="Wingdings" panose="05000000000000000000" pitchFamily="2" charset="2"/>
              <a:buChar char="Ø"/>
              <a:tabLst>
                <a:tab pos="457200" algn="l"/>
              </a:tabLst>
            </a:pPr>
            <a:r>
              <a:rPr lang="en-US" sz="2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middle 50% of maximum hourly rates ranges from 20.00 to 50.00.</a:t>
            </a:r>
          </a:p>
        </p:txBody>
      </p:sp>
      <p:sp>
        <p:nvSpPr>
          <p:cNvPr id="12" name="Title 1">
            <a:extLst>
              <a:ext uri="{FF2B5EF4-FFF2-40B4-BE49-F238E27FC236}">
                <a16:creationId xmlns:a16="http://schemas.microsoft.com/office/drawing/2014/main" id="{B27160DD-4ABF-18CA-34DB-A055FA222A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6111" y="82333"/>
            <a:ext cx="10862266" cy="1400530"/>
          </a:xfrm>
        </p:spPr>
        <p:txBody>
          <a:bodyPr/>
          <a:lstStyle/>
          <a:p>
            <a:pPr algn="ctr"/>
            <a:r>
              <a:rPr lang="en-US" sz="44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Compensation Distribution</a:t>
            </a:r>
            <a:endParaRPr lang="en-US" b="1" u="sng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3F68393-2980-C710-800C-F0FAC626C2D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7908" y="988858"/>
            <a:ext cx="10708991" cy="25802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0638332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9729FC4-34D0-9314-90ED-3454C97B7A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6B9C0276-1D22-6028-98AA-984C45FD7C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1308" y="82333"/>
            <a:ext cx="10862266" cy="1400530"/>
          </a:xfrm>
        </p:spPr>
        <p:txBody>
          <a:bodyPr/>
          <a:lstStyle/>
          <a:p>
            <a:pPr algn="ctr"/>
            <a:r>
              <a:rPr lang="en-US" sz="44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Web Application &amp; Deployment</a:t>
            </a:r>
            <a:endParaRPr lang="en-US" b="1" u="sng" dirty="0"/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88BC79B6-DB48-08BA-452D-4FCC449F944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6111" y="4001742"/>
            <a:ext cx="10862266" cy="5742033"/>
          </a:xfrm>
        </p:spPr>
        <p:txBody>
          <a:bodyPr>
            <a:normAutofit/>
          </a:bodyPr>
          <a:lstStyle/>
          <a:p>
            <a:pPr algn="just">
              <a:spcBef>
                <a:spcPts val="300"/>
              </a:spcBef>
              <a:spcAft>
                <a:spcPts val="300"/>
              </a:spcAft>
              <a:buClr>
                <a:schemeClr val="accent3">
                  <a:lumMod val="60000"/>
                  <a:lumOff val="40000"/>
                </a:schemeClr>
              </a:buClr>
              <a:buFont typeface="Wingdings" panose="05000000000000000000" pitchFamily="2" charset="2"/>
              <a:buChar char="Ø"/>
            </a:pPr>
            <a:r>
              <a:rPr lang="en-US" sz="2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web application was developed using Flask to make the job market analysis system accessible through a user-friendly interface.</a:t>
            </a:r>
          </a:p>
          <a:p>
            <a:pPr algn="just">
              <a:spcBef>
                <a:spcPts val="300"/>
              </a:spcBef>
              <a:spcAft>
                <a:spcPts val="300"/>
              </a:spcAft>
              <a:buClr>
                <a:schemeClr val="accent3">
                  <a:lumMod val="60000"/>
                  <a:lumOff val="40000"/>
                </a:schemeClr>
              </a:buClr>
              <a:buFont typeface="Wingdings" panose="05000000000000000000" pitchFamily="2" charset="2"/>
              <a:buChar char="Ø"/>
            </a:pPr>
            <a:r>
              <a:rPr lang="en-US" sz="2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keyword-based job search feature was implemented to find relevant job postings.</a:t>
            </a:r>
          </a:p>
          <a:p>
            <a:pPr algn="just">
              <a:spcBef>
                <a:spcPts val="300"/>
              </a:spcBef>
              <a:spcAft>
                <a:spcPts val="300"/>
              </a:spcAft>
              <a:buClr>
                <a:schemeClr val="accent3">
                  <a:lumMod val="60000"/>
                  <a:lumOff val="40000"/>
                </a:schemeClr>
              </a:buClr>
              <a:buFont typeface="Wingdings" panose="05000000000000000000" pitchFamily="2" charset="2"/>
              <a:buChar char="Ø"/>
            </a:pPr>
            <a:r>
              <a:rPr lang="en-US" sz="2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recommendation feature was developed to suggest relevant job based on the entered keyword.</a:t>
            </a:r>
          </a:p>
          <a:p>
            <a:pPr marL="0" indent="0" algn="just">
              <a:spcBef>
                <a:spcPts val="300"/>
              </a:spcBef>
              <a:spcAft>
                <a:spcPts val="300"/>
              </a:spcAft>
              <a:buClr>
                <a:schemeClr val="accent3">
                  <a:lumMod val="60000"/>
                  <a:lumOff val="40000"/>
                </a:schemeClr>
              </a:buClr>
              <a:buNone/>
            </a:pP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buFont typeface="Wingdings" panose="05000000000000000000" pitchFamily="2" charset="2"/>
              <a:buChar char="Ø"/>
            </a:pP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Wingdings" panose="05000000000000000000" pitchFamily="2" charset="2"/>
              <a:buChar char="Ø"/>
            </a:pPr>
            <a:endParaRPr lang="en-US" dirty="0"/>
          </a:p>
        </p:txBody>
      </p:sp>
      <p:graphicFrame>
        <p:nvGraphicFramePr>
          <p:cNvPr id="10" name="Diagram 9">
            <a:extLst>
              <a:ext uri="{FF2B5EF4-FFF2-40B4-BE49-F238E27FC236}">
                <a16:creationId xmlns:a16="http://schemas.microsoft.com/office/drawing/2014/main" id="{1C030492-991E-D23D-A01E-22BFF1A61048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642211641"/>
              </p:ext>
            </p:extLst>
          </p:nvPr>
        </p:nvGraphicFramePr>
        <p:xfrm>
          <a:off x="8303969" y="5818230"/>
          <a:ext cx="2830322" cy="59485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pic>
        <p:nvPicPr>
          <p:cNvPr id="6" name="Picture 5">
            <a:extLst>
              <a:ext uri="{FF2B5EF4-FFF2-40B4-BE49-F238E27FC236}">
                <a16:creationId xmlns:a16="http://schemas.microsoft.com/office/drawing/2014/main" id="{70DE518F-52C2-33C9-8591-C54E3E311451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2573" y="924232"/>
            <a:ext cx="10589342" cy="29398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2622977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E734AD-B490-4026-4AEE-5A0748C5C6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D28C945D-8B3C-FB24-8FE6-AFF9FD7972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1308" y="82333"/>
            <a:ext cx="10862266" cy="1400530"/>
          </a:xfrm>
        </p:spPr>
        <p:txBody>
          <a:bodyPr/>
          <a:lstStyle/>
          <a:p>
            <a:pPr algn="ctr"/>
            <a:r>
              <a:rPr lang="en-US" sz="44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Business Insights</a:t>
            </a:r>
            <a:endParaRPr lang="en-US" b="1" u="sng" dirty="0"/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7D88B7EA-4EFD-C8A5-26CA-C0339BCEF98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6111" y="1042224"/>
            <a:ext cx="10862266" cy="5742033"/>
          </a:xfrm>
        </p:spPr>
        <p:txBody>
          <a:bodyPr>
            <a:normAutofit/>
          </a:bodyPr>
          <a:lstStyle/>
          <a:p>
            <a:pPr algn="just">
              <a:spcAft>
                <a:spcPts val="1000"/>
              </a:spcAft>
              <a:buClr>
                <a:schemeClr val="accent3">
                  <a:lumMod val="60000"/>
                  <a:lumOff val="40000"/>
                </a:schemeClr>
              </a:buClr>
              <a:buFont typeface="Wingdings" panose="05000000000000000000" pitchFamily="2" charset="2"/>
              <a:buChar char="Ø"/>
            </a:pPr>
            <a:r>
              <a:rPr lang="en-US" sz="2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United States had the highest number of job posting followed by the United Kingdom and India.</a:t>
            </a:r>
          </a:p>
          <a:p>
            <a:pPr algn="just">
              <a:spcAft>
                <a:spcPts val="1000"/>
              </a:spcAft>
              <a:buClr>
                <a:schemeClr val="accent3">
                  <a:lumMod val="60000"/>
                  <a:lumOff val="40000"/>
                </a:schemeClr>
              </a:buClr>
              <a:buFont typeface="Wingdings" panose="05000000000000000000" pitchFamily="2" charset="2"/>
              <a:buChar char="Ø"/>
            </a:pPr>
            <a:r>
              <a:rPr lang="en-US" sz="2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Hourly jobs accounted for 57.57% of postings while fixed-budget jobs accounted for 42.43%.</a:t>
            </a:r>
          </a:p>
          <a:p>
            <a:pPr algn="just">
              <a:spcAft>
                <a:spcPts val="1000"/>
              </a:spcAft>
              <a:buClr>
                <a:schemeClr val="accent3">
                  <a:lumMod val="60000"/>
                  <a:lumOff val="40000"/>
                </a:schemeClr>
              </a:buClr>
              <a:buFont typeface="Wingdings" panose="05000000000000000000" pitchFamily="2" charset="2"/>
              <a:buChar char="Ø"/>
            </a:pPr>
            <a:r>
              <a:rPr lang="en-US" sz="2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Social media manager, virtual assistant, video editor &amp; graphic designer were among the frequently posted job titles.</a:t>
            </a:r>
          </a:p>
          <a:p>
            <a:pPr algn="just">
              <a:spcAft>
                <a:spcPts val="1000"/>
              </a:spcAft>
              <a:buClr>
                <a:schemeClr val="accent3">
                  <a:lumMod val="60000"/>
                  <a:lumOff val="40000"/>
                </a:schemeClr>
              </a:buClr>
              <a:buFont typeface="Wingdings" panose="05000000000000000000" pitchFamily="2" charset="2"/>
              <a:buChar char="Ø"/>
            </a:pPr>
            <a:r>
              <a:rPr lang="en-US" sz="2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median maximum hourly rate was 30 compared with 15 for the minimum hourly rate.</a:t>
            </a:r>
          </a:p>
          <a:p>
            <a:pPr algn="just">
              <a:spcAft>
                <a:spcPts val="1000"/>
              </a:spcAft>
              <a:buClr>
                <a:schemeClr val="accent3">
                  <a:lumMod val="60000"/>
                  <a:lumOff val="40000"/>
                </a:schemeClr>
              </a:buClr>
              <a:buFont typeface="Wingdings" panose="05000000000000000000" pitchFamily="2" charset="2"/>
              <a:buChar char="Ø"/>
            </a:pPr>
            <a:r>
              <a:rPr lang="en-US" sz="2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Job posting counts increased from 1,01,886 in February 2024 to 1,42,834 in March 2024.</a:t>
            </a:r>
          </a:p>
          <a:p>
            <a:pPr algn="just">
              <a:spcAft>
                <a:spcPts val="1000"/>
              </a:spcAft>
              <a:buClr>
                <a:schemeClr val="accent3">
                  <a:lumMod val="60000"/>
                  <a:lumOff val="40000"/>
                </a:schemeClr>
              </a:buClr>
              <a:buFont typeface="Wingdings" panose="05000000000000000000" pitchFamily="2" charset="2"/>
              <a:buChar char="Ø"/>
            </a:pPr>
            <a:endParaRPr lang="en-US" sz="27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buFont typeface="Wingdings" panose="05000000000000000000" pitchFamily="2" charset="2"/>
              <a:buChar char="Ø"/>
            </a:pP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buFont typeface="Wingdings" panose="05000000000000000000" pitchFamily="2" charset="2"/>
              <a:buChar char="Ø"/>
            </a:pP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Wingdings" panose="05000000000000000000" pitchFamily="2" charset="2"/>
              <a:buChar char="Ø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3117057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DE1D962-6015-78AE-2929-1E741B67E8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460955F1-8C0A-1B90-A069-976C25BEF9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6111" y="82333"/>
            <a:ext cx="10862266" cy="1400530"/>
          </a:xfrm>
        </p:spPr>
        <p:txBody>
          <a:bodyPr/>
          <a:lstStyle/>
          <a:p>
            <a:pPr algn="ctr"/>
            <a:r>
              <a:rPr lang="en-US" sz="44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  <a:endParaRPr lang="en-US" b="1" u="sng" dirty="0"/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EE288991-242D-8F1D-BE6C-25B23777AD7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6111" y="1022560"/>
            <a:ext cx="10862266" cy="5742033"/>
          </a:xfrm>
        </p:spPr>
        <p:txBody>
          <a:bodyPr>
            <a:normAutofit/>
          </a:bodyPr>
          <a:lstStyle/>
          <a:p>
            <a:pPr algn="just">
              <a:spcAft>
                <a:spcPts val="1000"/>
              </a:spcAft>
              <a:buClr>
                <a:schemeClr val="accent3">
                  <a:lumMod val="60000"/>
                  <a:lumOff val="40000"/>
                </a:schemeClr>
              </a:buClr>
              <a:buFont typeface="Wingdings" panose="05000000000000000000" pitchFamily="2" charset="2"/>
              <a:buChar char="Ø"/>
            </a:pPr>
            <a:r>
              <a:rPr lang="en-US" sz="2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project analyzed job market data to identify hiring patterns, popular job titles &amp; country wise job opportunities.</a:t>
            </a:r>
          </a:p>
          <a:p>
            <a:pPr algn="just">
              <a:spcAft>
                <a:spcPts val="1000"/>
              </a:spcAft>
              <a:buClr>
                <a:schemeClr val="accent3">
                  <a:lumMod val="60000"/>
                  <a:lumOff val="40000"/>
                </a:schemeClr>
              </a:buClr>
              <a:buFont typeface="Wingdings" panose="05000000000000000000" pitchFamily="2" charset="2"/>
              <a:buChar char="Ø"/>
            </a:pPr>
            <a:r>
              <a:rPr lang="en-US" sz="2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cleaning &amp; feature engineering prepared the dataset for further analysis.</a:t>
            </a:r>
          </a:p>
          <a:p>
            <a:pPr algn="just">
              <a:spcAft>
                <a:spcPts val="1000"/>
              </a:spcAft>
              <a:buClr>
                <a:schemeClr val="accent3">
                  <a:lumMod val="60000"/>
                  <a:lumOff val="40000"/>
                </a:schemeClr>
              </a:buClr>
              <a:buFont typeface="Wingdings" panose="05000000000000000000" pitchFamily="2" charset="2"/>
              <a:buChar char="Ø"/>
            </a:pPr>
            <a:r>
              <a:rPr lang="en-US" sz="2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Univariate, Bivariate &amp; Multivariate visualizations helped reveal important job market trends.</a:t>
            </a:r>
          </a:p>
          <a:p>
            <a:pPr algn="just">
              <a:spcAft>
                <a:spcPts val="1000"/>
              </a:spcAft>
              <a:buClr>
                <a:schemeClr val="accent3">
                  <a:lumMod val="60000"/>
                  <a:lumOff val="40000"/>
                </a:schemeClr>
              </a:buClr>
              <a:buFont typeface="Wingdings" panose="05000000000000000000" pitchFamily="2" charset="2"/>
              <a:buChar char="Ø"/>
            </a:pPr>
            <a:r>
              <a:rPr lang="en-US" sz="2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keyword-based recommendation system was developed to help users find relevant job postings.</a:t>
            </a:r>
          </a:p>
          <a:p>
            <a:pPr algn="just">
              <a:spcAft>
                <a:spcPts val="1000"/>
              </a:spcAft>
              <a:buClr>
                <a:schemeClr val="accent3">
                  <a:lumMod val="60000"/>
                  <a:lumOff val="40000"/>
                </a:schemeClr>
              </a:buClr>
              <a:buFont typeface="Wingdings" panose="05000000000000000000" pitchFamily="2" charset="2"/>
              <a:buChar char="Ø"/>
            </a:pPr>
            <a:r>
              <a:rPr lang="en-US" sz="2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forecasting model was implemented to estimate future job posting demand.</a:t>
            </a:r>
          </a:p>
          <a:p>
            <a:pPr algn="just">
              <a:buFont typeface="Wingdings" panose="05000000000000000000" pitchFamily="2" charset="2"/>
              <a:buChar char="Ø"/>
            </a:pP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buFont typeface="Wingdings" panose="05000000000000000000" pitchFamily="2" charset="2"/>
              <a:buChar char="Ø"/>
            </a:pP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buFont typeface="Wingdings" panose="05000000000000000000" pitchFamily="2" charset="2"/>
              <a:buChar char="Ø"/>
            </a:pP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buFont typeface="Wingdings" panose="05000000000000000000" pitchFamily="2" charset="2"/>
              <a:buChar char="Ø"/>
            </a:pP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Wingdings" panose="05000000000000000000" pitchFamily="2" charset="2"/>
              <a:buChar char="Ø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7225760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6111" y="147915"/>
            <a:ext cx="10888392" cy="1400530"/>
          </a:xfrm>
        </p:spPr>
        <p:txBody>
          <a:bodyPr/>
          <a:lstStyle/>
          <a:p>
            <a:pPr algn="ctr"/>
            <a:r>
              <a:rPr lang="en-US" sz="44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Reference Links Used For Learn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60439" y="1057245"/>
            <a:ext cx="10985450" cy="4195481"/>
          </a:xfrm>
        </p:spPr>
        <p:txBody>
          <a:bodyPr>
            <a:noAutofit/>
          </a:bodyPr>
          <a:lstStyle/>
          <a:p>
            <a:pPr>
              <a:spcBef>
                <a:spcPts val="0"/>
              </a:spcBef>
              <a:spcAft>
                <a:spcPts val="1000"/>
              </a:spcAft>
              <a:buClr>
                <a:schemeClr val="accent3">
                  <a:lumMod val="60000"/>
                  <a:lumOff val="40000"/>
                </a:schemeClr>
              </a:buClr>
              <a:buFont typeface="Wingdings" panose="05000000000000000000" pitchFamily="2" charset="2"/>
              <a:buChar char="Ø"/>
            </a:pPr>
            <a:r>
              <a:rPr lang="en-US" sz="2700" u="sng" dirty="0">
                <a:solidFill>
                  <a:schemeClr val="accent3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https://www.geeksforgeeks.org/data-analysis/data-analysis-with-python/</a:t>
            </a:r>
            <a:endParaRPr lang="en-US" sz="2700" u="sng" dirty="0">
              <a:solidFill>
                <a:schemeClr val="accent3">
                  <a:lumMod val="60000"/>
                  <a:lumOff val="4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spcBef>
                <a:spcPts val="0"/>
              </a:spcBef>
              <a:spcAft>
                <a:spcPts val="1000"/>
              </a:spcAft>
              <a:buClr>
                <a:schemeClr val="accent3">
                  <a:lumMod val="60000"/>
                  <a:lumOff val="40000"/>
                </a:schemeClr>
              </a:buClr>
              <a:buFont typeface="Wingdings" panose="05000000000000000000" pitchFamily="2" charset="2"/>
              <a:buChar char="Ø"/>
            </a:pPr>
            <a:r>
              <a:rPr lang="en-US" sz="2700" u="sng" dirty="0">
                <a:solidFill>
                  <a:schemeClr val="accent3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https://www.geeksforgeeks.org/data-analysis/exploratory-data-analysis-in-python/</a:t>
            </a:r>
            <a:endParaRPr lang="en-US" sz="2700" u="sng" dirty="0">
              <a:solidFill>
                <a:schemeClr val="accent3">
                  <a:lumMod val="60000"/>
                  <a:lumOff val="4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spcBef>
                <a:spcPts val="0"/>
              </a:spcBef>
              <a:spcAft>
                <a:spcPts val="1000"/>
              </a:spcAft>
              <a:buClr>
                <a:schemeClr val="accent3">
                  <a:lumMod val="60000"/>
                  <a:lumOff val="40000"/>
                </a:schemeClr>
              </a:buClr>
              <a:buFont typeface="Wingdings" panose="05000000000000000000" pitchFamily="2" charset="2"/>
              <a:buChar char="Ø"/>
            </a:pPr>
            <a:r>
              <a:rPr lang="en-US" sz="2700" u="sng" dirty="0">
                <a:solidFill>
                  <a:schemeClr val="accent3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https://www.geeksforgeeks.org/data-visualization/python-data-visualization-tutorial/</a:t>
            </a:r>
            <a:endParaRPr lang="en-US" sz="2700" u="sng" dirty="0">
              <a:solidFill>
                <a:schemeClr val="accent3">
                  <a:lumMod val="60000"/>
                  <a:lumOff val="4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spcBef>
                <a:spcPts val="0"/>
              </a:spcBef>
              <a:spcAft>
                <a:spcPts val="1000"/>
              </a:spcAft>
              <a:buClr>
                <a:schemeClr val="accent3">
                  <a:lumMod val="60000"/>
                  <a:lumOff val="40000"/>
                </a:schemeClr>
              </a:buClr>
              <a:buFont typeface="Wingdings" panose="05000000000000000000" pitchFamily="2" charset="2"/>
              <a:buChar char="Ø"/>
            </a:pPr>
            <a:r>
              <a:rPr lang="en-US" sz="2700" u="sng" dirty="0">
                <a:solidFill>
                  <a:schemeClr val="accent3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https://www.geeksforgeeks.org/machine-learning/ml-linear-regression/</a:t>
            </a:r>
            <a:endParaRPr lang="en-US" sz="2700" u="sng" dirty="0">
              <a:solidFill>
                <a:schemeClr val="accent3">
                  <a:lumMod val="60000"/>
                  <a:lumOff val="4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spcBef>
                <a:spcPts val="0"/>
              </a:spcBef>
              <a:spcAft>
                <a:spcPts val="1000"/>
              </a:spcAft>
              <a:buClr>
                <a:schemeClr val="accent3">
                  <a:lumMod val="60000"/>
                  <a:lumOff val="40000"/>
                </a:schemeClr>
              </a:buClr>
              <a:buFont typeface="Wingdings" panose="05000000000000000000" pitchFamily="2" charset="2"/>
              <a:buChar char="Ø"/>
            </a:pPr>
            <a:r>
              <a:rPr lang="en-US" sz="2700" u="sng" dirty="0">
                <a:solidFill>
                  <a:schemeClr val="accent3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https://www.geeksforgeeks.org/python/flask-tutorial/</a:t>
            </a:r>
            <a:endParaRPr lang="en-US" sz="2700" u="sng" dirty="0">
              <a:solidFill>
                <a:schemeClr val="accent3">
                  <a:lumMod val="60000"/>
                  <a:lumOff val="4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spcBef>
                <a:spcPts val="0"/>
              </a:spcBef>
              <a:spcAft>
                <a:spcPts val="1000"/>
              </a:spcAft>
              <a:buClr>
                <a:schemeClr val="accent3">
                  <a:lumMod val="60000"/>
                  <a:lumOff val="40000"/>
                </a:schemeClr>
              </a:buClr>
              <a:buFont typeface="Wingdings" panose="05000000000000000000" pitchFamily="2" charset="2"/>
              <a:buChar char="Ø"/>
            </a:pPr>
            <a:r>
              <a:rPr lang="en-US" sz="2700" u="sng" dirty="0">
                <a:solidFill>
                  <a:schemeClr val="accent3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  <a:hlinkClick r:id="rId7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https://scikit-learn.org/stable/modules/generated/sklearn.linear_model.LinearRegression.html</a:t>
            </a:r>
            <a:endParaRPr lang="en-US" sz="2700" u="sng" dirty="0">
              <a:solidFill>
                <a:schemeClr val="accent3">
                  <a:lumMod val="60000"/>
                  <a:lumOff val="4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2832071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46112" y="640080"/>
            <a:ext cx="10823078" cy="5608319"/>
          </a:xfrm>
        </p:spPr>
        <p:txBody>
          <a:bodyPr anchor="ctr">
            <a:normAutofit/>
          </a:bodyPr>
          <a:lstStyle/>
          <a:p>
            <a:pPr marL="0" indent="0" algn="ctr">
              <a:buNone/>
            </a:pPr>
            <a:r>
              <a:rPr lang="en-US" sz="8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2775335812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">
  <a:themeElements>
    <a:clrScheme name="Blue">
      <a:dk1>
        <a:sysClr val="windowText" lastClr="000000"/>
      </a:dk1>
      <a:lt1>
        <a:sysClr val="window" lastClr="FFFFFF"/>
      </a:lt1>
      <a:dk2>
        <a:srgbClr val="17406D"/>
      </a:dk2>
      <a:lt2>
        <a:srgbClr val="DBEFF9"/>
      </a:lt2>
      <a:accent1>
        <a:srgbClr val="0F6FC6"/>
      </a:accent1>
      <a:accent2>
        <a:srgbClr val="009DD9"/>
      </a:accent2>
      <a:accent3>
        <a:srgbClr val="0BD0D9"/>
      </a:accent3>
      <a:accent4>
        <a:srgbClr val="10CF9B"/>
      </a:accent4>
      <a:accent5>
        <a:srgbClr val="7CCA62"/>
      </a:accent5>
      <a:accent6>
        <a:srgbClr val="A5C249"/>
      </a:accent6>
      <a:hlink>
        <a:srgbClr val="F49100"/>
      </a:hlink>
      <a:folHlink>
        <a:srgbClr val="85DFD0"/>
      </a:folHlink>
    </a:clrScheme>
    <a:fontScheme name="Ion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2000"/>
                <a:hueMod val="96000"/>
                <a:satMod val="128000"/>
                <a:lumMod val="114000"/>
              </a:schemeClr>
            </a:gs>
            <a:gs pos="100000">
              <a:schemeClr val="phClr">
                <a:shade val="62000"/>
                <a:hueMod val="100000"/>
                <a:satMod val="134000"/>
                <a:lumMod val="5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2000"/>
                <a:hueMod val="108000"/>
                <a:satMod val="164000"/>
                <a:lumMod val="69000"/>
              </a:schemeClr>
              <a:schemeClr val="phClr">
                <a:tint val="96000"/>
                <a:hueMod val="90000"/>
                <a:satMod val="130000"/>
                <a:lumMod val="134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" id="{B8441ADB-2E43-4AF7-B97A-BD870242C6A8}" vid="{BACC050B-8757-4460-95D8-E37B46A6B421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Wisp</Template>
  <TotalTime>2796</TotalTime>
  <Words>978</Words>
  <Application>Microsoft Office PowerPoint</Application>
  <PresentationFormat>Widescreen</PresentationFormat>
  <Paragraphs>118</Paragraphs>
  <Slides>17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2" baseType="lpstr">
      <vt:lpstr>Century Gothic</vt:lpstr>
      <vt:lpstr>Times New Roman</vt:lpstr>
      <vt:lpstr>Wingdings</vt:lpstr>
      <vt:lpstr>Wingdings 3</vt:lpstr>
      <vt:lpstr>Ion</vt:lpstr>
      <vt:lpstr>Project-8  Job Market Analysis &amp; Recommendation System  NextHikes Solutions By - Rakshit A Solanki</vt:lpstr>
      <vt:lpstr>Project Overview</vt:lpstr>
      <vt:lpstr>Problem Statement</vt:lpstr>
      <vt:lpstr>Dataset Information</vt:lpstr>
      <vt:lpstr>Univariate Analysis</vt:lpstr>
      <vt:lpstr>Univariate Analysis</vt:lpstr>
      <vt:lpstr>Bivariate Analysis</vt:lpstr>
      <vt:lpstr>Multivariate Analysis</vt:lpstr>
      <vt:lpstr>Correlation Heatmap</vt:lpstr>
      <vt:lpstr>Feature Engineering</vt:lpstr>
      <vt:lpstr>Outlier Detection</vt:lpstr>
      <vt:lpstr>Compensation Distribution</vt:lpstr>
      <vt:lpstr>Web Application &amp; Deployment</vt:lpstr>
      <vt:lpstr>Business Insights</vt:lpstr>
      <vt:lpstr>Conclusion</vt:lpstr>
      <vt:lpstr>Reference Links Used For Learn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Chandni Solanki</dc:creator>
  <cp:lastModifiedBy>Chandni Solanki</cp:lastModifiedBy>
  <cp:revision>69</cp:revision>
  <dcterms:created xsi:type="dcterms:W3CDTF">2026-04-24T15:01:37Z</dcterms:created>
  <dcterms:modified xsi:type="dcterms:W3CDTF">2026-10-16T04:44:23Z</dcterms:modified>
</cp:coreProperties>
</file>